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>
      <p:cViewPr varScale="1">
        <p:scale>
          <a:sx n="101" d="100"/>
          <a:sy n="101" d="100"/>
        </p:scale>
        <p:origin x="17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7" name="Shape 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5" name="Shape 1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1" name="Shape 1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8" name="Shape 1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8" name="Shape 1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0" name="Shape 1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8" name="Shape 2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4" name="Shape 2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0" name="Shape 2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22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6" name="Shape 2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23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2" name="Shape 2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44" name="Shape 24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640"/>
              </a:spcBef>
              <a:buClr>
                <a:srgbClr val="8F99A5"/>
              </a:buClr>
              <a:buFont typeface="Calibri"/>
              <a:buNone/>
              <a:defRPr/>
            </a:lvl1pPr>
            <a:lvl2pPr marL="457200" marR="0" indent="0" algn="ctr" rtl="0">
              <a:spcBef>
                <a:spcPts val="560"/>
              </a:spcBef>
              <a:buClr>
                <a:srgbClr val="8F99A5"/>
              </a:buClr>
              <a:buFont typeface="Calibri"/>
              <a:buNone/>
              <a:defRPr/>
            </a:lvl2pPr>
            <a:lvl3pPr marL="914400" marR="0" indent="0" algn="ctr" rtl="0">
              <a:spcBef>
                <a:spcPts val="480"/>
              </a:spcBef>
              <a:buClr>
                <a:srgbClr val="8F99A5"/>
              </a:buClr>
              <a:buFont typeface="Calibri"/>
              <a:buNone/>
              <a:defRPr/>
            </a:lvl3pPr>
            <a:lvl4pPr marL="1371600" marR="0" indent="0" algn="ctr" rtl="0">
              <a:spcBef>
                <a:spcPts val="400"/>
              </a:spcBef>
              <a:buClr>
                <a:srgbClr val="8F99A5"/>
              </a:buClr>
              <a:buFont typeface="Calibri"/>
              <a:buNone/>
              <a:defRPr/>
            </a:lvl4pPr>
            <a:lvl5pPr marL="1828800" marR="0" indent="0" algn="ctr" rtl="0">
              <a:spcBef>
                <a:spcPts val="400"/>
              </a:spcBef>
              <a:buClr>
                <a:srgbClr val="8F99A5"/>
              </a:buClr>
              <a:buFont typeface="Calibri"/>
              <a:buNone/>
              <a:defRPr/>
            </a:lvl5pPr>
            <a:lvl6pPr marL="2286000" marR="0" indent="0" algn="ctr" rtl="0">
              <a:spcBef>
                <a:spcPts val="400"/>
              </a:spcBef>
              <a:buClr>
                <a:srgbClr val="8F99A5"/>
              </a:buClr>
              <a:buFont typeface="Calibri"/>
              <a:buNone/>
              <a:defRPr/>
            </a:lvl6pPr>
            <a:lvl7pPr marL="2743200" marR="0" indent="0" algn="ctr" rtl="0">
              <a:spcBef>
                <a:spcPts val="400"/>
              </a:spcBef>
              <a:buClr>
                <a:srgbClr val="8F99A5"/>
              </a:buClr>
              <a:buFont typeface="Calibri"/>
              <a:buNone/>
              <a:defRPr/>
            </a:lvl7pPr>
            <a:lvl8pPr marL="3200400" marR="0" indent="0" algn="ctr" rtl="0">
              <a:spcBef>
                <a:spcPts val="400"/>
              </a:spcBef>
              <a:buClr>
                <a:srgbClr val="8F99A5"/>
              </a:buClr>
              <a:buFont typeface="Calibri"/>
              <a:buNone/>
              <a:defRPr/>
            </a:lvl8pPr>
            <a:lvl9pPr marL="3657600" marR="0" indent="0" algn="ctr" rtl="0">
              <a:spcBef>
                <a:spcPts val="400"/>
              </a:spcBef>
              <a:buClr>
                <a:srgbClr val="8F99A5"/>
              </a:buClr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139700" algn="l" rtl="0">
              <a:spcBef>
                <a:spcPts val="640"/>
              </a:spcBef>
              <a:buClr>
                <a:schemeClr val="dk1"/>
              </a:buClr>
              <a:buFont typeface="Calibri"/>
              <a:buChar char="•"/>
              <a:defRPr/>
            </a:lvl1pPr>
            <a:lvl2pPr marL="742950" indent="-107950" algn="l" rtl="0">
              <a:spcBef>
                <a:spcPts val="560"/>
              </a:spcBef>
              <a:buClr>
                <a:schemeClr val="dk1"/>
              </a:buClr>
              <a:buFont typeface="Calibri"/>
              <a:buChar char="–"/>
              <a:defRPr/>
            </a:lvl2pPr>
            <a:lvl3pPr marL="1143000" indent="-76200" algn="l" rtl="0">
              <a:spcBef>
                <a:spcPts val="480"/>
              </a:spcBef>
              <a:buClr>
                <a:schemeClr val="dk1"/>
              </a:buClr>
              <a:buFont typeface="Calibri"/>
              <a:buChar char="•"/>
              <a:defRPr/>
            </a:lvl3pPr>
            <a:lvl4pPr marL="1600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–"/>
              <a:defRPr/>
            </a:lvl4pPr>
            <a:lvl5pPr marL="20574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»"/>
              <a:defRPr/>
            </a:lvl5pPr>
            <a:lvl6pPr marL="25146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6pPr>
            <a:lvl7pPr marL="29718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7pPr>
            <a:lvl8pPr marL="34290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8pPr>
            <a:lvl9pPr marL="3886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Clr>
                <a:srgbClr val="8F99A5"/>
              </a:buClr>
              <a:buFont typeface="Calibri"/>
              <a:buNone/>
              <a:defRPr/>
            </a:lvl1pPr>
            <a:lvl2pPr marL="457200" indent="0" rtl="0">
              <a:spcBef>
                <a:spcPts val="0"/>
              </a:spcBef>
              <a:buClr>
                <a:srgbClr val="8F99A5"/>
              </a:buClr>
              <a:buFont typeface="Calibri"/>
              <a:buNone/>
              <a:defRPr/>
            </a:lvl2pPr>
            <a:lvl3pPr marL="914400" indent="0" rtl="0">
              <a:spcBef>
                <a:spcPts val="0"/>
              </a:spcBef>
              <a:buClr>
                <a:srgbClr val="8F99A5"/>
              </a:buClr>
              <a:buFont typeface="Calibri"/>
              <a:buNone/>
              <a:defRPr/>
            </a:lvl3pPr>
            <a:lvl4pPr marL="1371600" indent="0" rtl="0">
              <a:spcBef>
                <a:spcPts val="0"/>
              </a:spcBef>
              <a:buClr>
                <a:srgbClr val="8F99A5"/>
              </a:buClr>
              <a:buFont typeface="Calibri"/>
              <a:buNone/>
              <a:defRPr/>
            </a:lvl4pPr>
            <a:lvl5pPr marL="1828800" indent="0" rtl="0">
              <a:spcBef>
                <a:spcPts val="0"/>
              </a:spcBef>
              <a:buClr>
                <a:srgbClr val="8F99A5"/>
              </a:buClr>
              <a:buFont typeface="Calibri"/>
              <a:buNone/>
              <a:defRPr/>
            </a:lvl5pPr>
            <a:lvl6pPr marL="2286000" indent="0" rtl="0">
              <a:spcBef>
                <a:spcPts val="0"/>
              </a:spcBef>
              <a:buClr>
                <a:srgbClr val="8F99A5"/>
              </a:buClr>
              <a:buFont typeface="Calibri"/>
              <a:buNone/>
              <a:defRPr/>
            </a:lvl6pPr>
            <a:lvl7pPr marL="2743200" indent="0" rtl="0">
              <a:spcBef>
                <a:spcPts val="0"/>
              </a:spcBef>
              <a:buClr>
                <a:srgbClr val="8F99A5"/>
              </a:buClr>
              <a:buFont typeface="Calibri"/>
              <a:buNone/>
              <a:defRPr/>
            </a:lvl7pPr>
            <a:lvl8pPr marL="3200400" indent="0" rtl="0">
              <a:spcBef>
                <a:spcPts val="0"/>
              </a:spcBef>
              <a:buClr>
                <a:srgbClr val="8F99A5"/>
              </a:buClr>
              <a:buFont typeface="Calibri"/>
              <a:buNone/>
              <a:defRPr/>
            </a:lvl8pPr>
            <a:lvl9pPr marL="3657600" indent="0" rtl="0">
              <a:spcBef>
                <a:spcPts val="0"/>
              </a:spcBef>
              <a:buClr>
                <a:srgbClr val="8F99A5"/>
              </a:buClr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599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Сравнение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7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457200" indent="0" rtl="0">
              <a:spcBef>
                <a:spcPts val="0"/>
              </a:spcBef>
              <a:buFont typeface="Calibri"/>
              <a:buNone/>
              <a:defRPr/>
            </a:lvl2pPr>
            <a:lvl3pPr marL="914400" indent="0" rtl="0">
              <a:spcBef>
                <a:spcPts val="0"/>
              </a:spcBef>
              <a:buFont typeface="Calibri"/>
              <a:buNone/>
              <a:defRPr/>
            </a:lvl3pPr>
            <a:lvl4pPr marL="1371600" indent="0" rtl="0">
              <a:spcBef>
                <a:spcPts val="0"/>
              </a:spcBef>
              <a:buFont typeface="Calibri"/>
              <a:buNone/>
              <a:defRPr/>
            </a:lvl4pPr>
            <a:lvl5pPr marL="1828800" indent="0" rtl="0">
              <a:spcBef>
                <a:spcPts val="0"/>
              </a:spcBef>
              <a:buFont typeface="Calibri"/>
              <a:buNone/>
              <a:defRPr/>
            </a:lvl5pPr>
            <a:lvl6pPr marL="2286000" indent="0" rtl="0">
              <a:spcBef>
                <a:spcPts val="0"/>
              </a:spcBef>
              <a:buFont typeface="Calibri"/>
              <a:buNone/>
              <a:defRPr/>
            </a:lvl6pPr>
            <a:lvl7pPr marL="2743200" indent="0" rtl="0">
              <a:spcBef>
                <a:spcPts val="0"/>
              </a:spcBef>
              <a:buFont typeface="Calibri"/>
              <a:buNone/>
              <a:defRPr/>
            </a:lvl7pPr>
            <a:lvl8pPr marL="3200400" indent="0" rtl="0">
              <a:spcBef>
                <a:spcPts val="0"/>
              </a:spcBef>
              <a:buFont typeface="Calibri"/>
              <a:buNone/>
              <a:defRPr/>
            </a:lvl8pPr>
            <a:lvl9pPr marL="3657600" indent="0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7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4" cy="6397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457200" indent="0" rtl="0">
              <a:spcBef>
                <a:spcPts val="0"/>
              </a:spcBef>
              <a:buFont typeface="Calibri"/>
              <a:buNone/>
              <a:defRPr/>
            </a:lvl2pPr>
            <a:lvl3pPr marL="914400" indent="0" rtl="0">
              <a:spcBef>
                <a:spcPts val="0"/>
              </a:spcBef>
              <a:buFont typeface="Calibri"/>
              <a:buNone/>
              <a:defRPr/>
            </a:lvl3pPr>
            <a:lvl4pPr marL="1371600" indent="0" rtl="0">
              <a:spcBef>
                <a:spcPts val="0"/>
              </a:spcBef>
              <a:buFont typeface="Calibri"/>
              <a:buNone/>
              <a:defRPr/>
            </a:lvl4pPr>
            <a:lvl5pPr marL="1828800" indent="0" rtl="0">
              <a:spcBef>
                <a:spcPts val="0"/>
              </a:spcBef>
              <a:buFont typeface="Calibri"/>
              <a:buNone/>
              <a:defRPr/>
            </a:lvl5pPr>
            <a:lvl6pPr marL="2286000" indent="0" rtl="0">
              <a:spcBef>
                <a:spcPts val="0"/>
              </a:spcBef>
              <a:buFont typeface="Calibri"/>
              <a:buNone/>
              <a:defRPr/>
            </a:lvl6pPr>
            <a:lvl7pPr marL="2743200" indent="0" rtl="0">
              <a:spcBef>
                <a:spcPts val="0"/>
              </a:spcBef>
              <a:buFont typeface="Calibri"/>
              <a:buNone/>
              <a:defRPr/>
            </a:lvl7pPr>
            <a:lvl8pPr marL="3200400" indent="0" rtl="0">
              <a:spcBef>
                <a:spcPts val="0"/>
              </a:spcBef>
              <a:buFont typeface="Calibri"/>
              <a:buNone/>
              <a:defRPr/>
            </a:lvl8pPr>
            <a:lvl9pPr marL="3657600" indent="0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4" cy="39512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5" name="Shape 5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457200" indent="0" rtl="0">
              <a:spcBef>
                <a:spcPts val="0"/>
              </a:spcBef>
              <a:buFont typeface="Calibri"/>
              <a:buNone/>
              <a:defRPr/>
            </a:lvl2pPr>
            <a:lvl3pPr marL="914400" indent="0" rtl="0">
              <a:spcBef>
                <a:spcPts val="0"/>
              </a:spcBef>
              <a:buFont typeface="Calibri"/>
              <a:buNone/>
              <a:defRPr/>
            </a:lvl3pPr>
            <a:lvl4pPr marL="1371600" indent="0" rtl="0">
              <a:spcBef>
                <a:spcPts val="0"/>
              </a:spcBef>
              <a:buFont typeface="Calibri"/>
              <a:buNone/>
              <a:defRPr/>
            </a:lvl4pPr>
            <a:lvl5pPr marL="1828800" indent="0" rtl="0">
              <a:spcBef>
                <a:spcPts val="0"/>
              </a:spcBef>
              <a:buFont typeface="Calibri"/>
              <a:buNone/>
              <a:defRPr/>
            </a:lvl5pPr>
            <a:lvl6pPr marL="2286000" indent="0" rtl="0">
              <a:spcBef>
                <a:spcPts val="0"/>
              </a:spcBef>
              <a:buFont typeface="Calibri"/>
              <a:buNone/>
              <a:defRPr/>
            </a:lvl6pPr>
            <a:lvl7pPr marL="2743200" indent="0" rtl="0">
              <a:spcBef>
                <a:spcPts val="0"/>
              </a:spcBef>
              <a:buFont typeface="Calibri"/>
              <a:buNone/>
              <a:defRPr/>
            </a:lvl7pPr>
            <a:lvl8pPr marL="3200400" indent="0" rtl="0">
              <a:spcBef>
                <a:spcPts val="0"/>
              </a:spcBef>
              <a:buFont typeface="Calibri"/>
              <a:buNone/>
              <a:defRPr/>
            </a:lvl8pPr>
            <a:lvl9pPr marL="3657600" indent="0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9" name="Shape 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Рисунок с подписью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399" cy="566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2" name="Shape 6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399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399" cy="8048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libri"/>
              <a:buNone/>
              <a:defRPr/>
            </a:lvl1pPr>
            <a:lvl2pPr marL="457200" indent="0" rtl="0">
              <a:spcBef>
                <a:spcPts val="0"/>
              </a:spcBef>
              <a:buFont typeface="Calibri"/>
              <a:buNone/>
              <a:defRPr/>
            </a:lvl2pPr>
            <a:lvl3pPr marL="914400" indent="0" rtl="0">
              <a:spcBef>
                <a:spcPts val="0"/>
              </a:spcBef>
              <a:buFont typeface="Calibri"/>
              <a:buNone/>
              <a:defRPr/>
            </a:lvl3pPr>
            <a:lvl4pPr marL="1371600" indent="0" rtl="0">
              <a:spcBef>
                <a:spcPts val="0"/>
              </a:spcBef>
              <a:buFont typeface="Calibri"/>
              <a:buNone/>
              <a:defRPr/>
            </a:lvl4pPr>
            <a:lvl5pPr marL="1828800" indent="0" rtl="0">
              <a:spcBef>
                <a:spcPts val="0"/>
              </a:spcBef>
              <a:buFont typeface="Calibri"/>
              <a:buNone/>
              <a:defRPr/>
            </a:lvl5pPr>
            <a:lvl6pPr marL="2286000" indent="0" rtl="0">
              <a:spcBef>
                <a:spcPts val="0"/>
              </a:spcBef>
              <a:buFont typeface="Calibri"/>
              <a:buNone/>
              <a:defRPr/>
            </a:lvl6pPr>
            <a:lvl7pPr marL="2743200" indent="0" rtl="0">
              <a:spcBef>
                <a:spcPts val="0"/>
              </a:spcBef>
              <a:buFont typeface="Calibri"/>
              <a:buNone/>
              <a:defRPr/>
            </a:lvl7pPr>
            <a:lvl8pPr marL="3200400" indent="0" rtl="0">
              <a:spcBef>
                <a:spcPts val="0"/>
              </a:spcBef>
              <a:buFont typeface="Calibri"/>
              <a:buNone/>
              <a:defRPr/>
            </a:lvl8pPr>
            <a:lvl9pPr marL="3657600" indent="0" rtl="0">
              <a:spcBef>
                <a:spcPts val="0"/>
              </a:spcBef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Заголовок и вертикальный текст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139700" algn="l" rtl="0">
              <a:spcBef>
                <a:spcPts val="640"/>
              </a:spcBef>
              <a:buClr>
                <a:schemeClr val="dk1"/>
              </a:buClr>
              <a:buFont typeface="Calibri"/>
              <a:buChar char="•"/>
              <a:defRPr/>
            </a:lvl1pPr>
            <a:lvl2pPr marL="742950" indent="-107950" algn="l" rtl="0">
              <a:spcBef>
                <a:spcPts val="560"/>
              </a:spcBef>
              <a:buClr>
                <a:schemeClr val="dk1"/>
              </a:buClr>
              <a:buFont typeface="Calibri"/>
              <a:buChar char="–"/>
              <a:defRPr/>
            </a:lvl2pPr>
            <a:lvl3pPr marL="1143000" indent="-76200" algn="l" rtl="0">
              <a:spcBef>
                <a:spcPts val="480"/>
              </a:spcBef>
              <a:buClr>
                <a:schemeClr val="dk1"/>
              </a:buClr>
              <a:buFont typeface="Calibri"/>
              <a:buChar char="•"/>
              <a:defRPr/>
            </a:lvl3pPr>
            <a:lvl4pPr marL="1600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–"/>
              <a:defRPr/>
            </a:lvl4pPr>
            <a:lvl5pPr marL="20574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»"/>
              <a:defRPr/>
            </a:lvl5pPr>
            <a:lvl6pPr marL="25146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6pPr>
            <a:lvl7pPr marL="29718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7pPr>
            <a:lvl8pPr marL="34290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8pPr>
            <a:lvl9pPr marL="3886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Вертикальный заголовок и текст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1"/>
          </p:nvPr>
        </p:nvSpPr>
        <p:spPr>
          <a:xfrm rot="5400000">
            <a:off x="541337" y="190500"/>
            <a:ext cx="5851525" cy="6019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139700" algn="l" rtl="0">
              <a:spcBef>
                <a:spcPts val="640"/>
              </a:spcBef>
              <a:buClr>
                <a:schemeClr val="dk1"/>
              </a:buClr>
              <a:buFont typeface="Calibri"/>
              <a:buChar char="•"/>
              <a:defRPr/>
            </a:lvl1pPr>
            <a:lvl2pPr marL="742950" indent="-107950" algn="l" rtl="0">
              <a:spcBef>
                <a:spcPts val="560"/>
              </a:spcBef>
              <a:buClr>
                <a:schemeClr val="dk1"/>
              </a:buClr>
              <a:buFont typeface="Calibri"/>
              <a:buChar char="–"/>
              <a:defRPr/>
            </a:lvl2pPr>
            <a:lvl3pPr marL="1143000" indent="-76200" algn="l" rtl="0">
              <a:spcBef>
                <a:spcPts val="480"/>
              </a:spcBef>
              <a:buClr>
                <a:schemeClr val="dk1"/>
              </a:buClr>
              <a:buFont typeface="Calibri"/>
              <a:buChar char="•"/>
              <a:defRPr/>
            </a:lvl3pPr>
            <a:lvl4pPr marL="1600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–"/>
              <a:defRPr/>
            </a:lvl4pPr>
            <a:lvl5pPr marL="20574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»"/>
              <a:defRPr/>
            </a:lvl5pPr>
            <a:lvl6pPr marL="25146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6pPr>
            <a:lvl7pPr marL="29718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7pPr>
            <a:lvl8pPr marL="34290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8pPr>
            <a:lvl9pPr marL="388620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stretch>
            <a:fillRect l="-2999" r="-2999"/>
          </a:stretch>
        </a:blip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/>
            </a:lvl1pPr>
            <a:lvl2pPr marL="0" marR="0" indent="0" algn="l" rtl="0">
              <a:spcBef>
                <a:spcPts val="0"/>
              </a:spcBef>
              <a:defRPr/>
            </a:lvl2pPr>
            <a:lvl3pPr marL="0" marR="0" indent="0" algn="l" rtl="0">
              <a:spcBef>
                <a:spcPts val="0"/>
              </a:spcBef>
              <a:defRPr/>
            </a:lvl3pPr>
            <a:lvl4pPr marL="0" marR="0" indent="0" algn="l" rtl="0">
              <a:spcBef>
                <a:spcPts val="0"/>
              </a:spcBef>
              <a:defRPr/>
            </a:lvl4pPr>
            <a:lvl5pPr marL="0" marR="0" indent="0" algn="l" rtl="0">
              <a:spcBef>
                <a:spcPts val="0"/>
              </a:spcBef>
              <a:defRPr/>
            </a:lvl5pPr>
            <a:lvl6pPr marL="0" marR="0" indent="0" algn="l" rtl="0">
              <a:spcBef>
                <a:spcPts val="0"/>
              </a:spcBef>
              <a:defRPr/>
            </a:lvl6pPr>
            <a:lvl7pPr marL="0" marR="0" indent="0" algn="l" rtl="0">
              <a:spcBef>
                <a:spcPts val="0"/>
              </a:spcBef>
              <a:defRPr/>
            </a:lvl7pPr>
            <a:lvl8pPr marL="0" marR="0" indent="0" algn="l" rtl="0">
              <a:spcBef>
                <a:spcPts val="0"/>
              </a:spcBef>
              <a:defRPr/>
            </a:lvl8pPr>
            <a:lvl9pPr marL="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139700" algn="l" rtl="0">
              <a:spcBef>
                <a:spcPts val="640"/>
              </a:spcBef>
              <a:buClr>
                <a:schemeClr val="dk1"/>
              </a:buClr>
              <a:buFont typeface="Calibri"/>
              <a:buChar char="•"/>
              <a:defRPr/>
            </a:lvl1pPr>
            <a:lvl2pPr marL="742950" marR="0" indent="-107950" algn="l" rtl="0">
              <a:spcBef>
                <a:spcPts val="560"/>
              </a:spcBef>
              <a:buClr>
                <a:schemeClr val="dk1"/>
              </a:buClr>
              <a:buFont typeface="Calibri"/>
              <a:buChar char="–"/>
              <a:defRPr/>
            </a:lvl2pPr>
            <a:lvl3pPr marL="1143000" marR="0" indent="-76200" algn="l" rtl="0">
              <a:spcBef>
                <a:spcPts val="480"/>
              </a:spcBef>
              <a:buClr>
                <a:schemeClr val="dk1"/>
              </a:buClr>
              <a:buFont typeface="Calibri"/>
              <a:buChar char="•"/>
              <a:defRPr/>
            </a:lvl3pPr>
            <a:lvl4pPr marL="16002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–"/>
              <a:defRPr/>
            </a:lvl4pPr>
            <a:lvl5pPr marL="20574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»"/>
              <a:defRPr/>
            </a:lvl5pPr>
            <a:lvl6pPr marL="25146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6pPr>
            <a:lvl7pPr marL="29718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7pPr>
            <a:lvl8pPr marL="34290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8pPr>
            <a:lvl9pPr marL="3886200" marR="0" indent="-101600" algn="l" rtl="0">
              <a:spcBef>
                <a:spcPts val="400"/>
              </a:spcBef>
              <a:buClr>
                <a:schemeClr val="dk1"/>
              </a:buClr>
              <a:buFont typeface="Calibri"/>
              <a:buChar char="•"/>
              <a:defRPr/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l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defRPr/>
            </a:lvl1pPr>
            <a:lvl2pPr marL="457200" marR="0" indent="0" algn="l" rtl="0">
              <a:spcBef>
                <a:spcPts val="0"/>
              </a:spcBef>
              <a:defRPr/>
            </a:lvl2pPr>
            <a:lvl3pPr marL="914400" marR="0" indent="0" algn="l" rtl="0">
              <a:spcBef>
                <a:spcPts val="0"/>
              </a:spcBef>
              <a:defRPr/>
            </a:lvl3pPr>
            <a:lvl4pPr marL="1371600" marR="0" indent="0" algn="l" rtl="0">
              <a:spcBef>
                <a:spcPts val="0"/>
              </a:spcBef>
              <a:defRPr/>
            </a:lvl4pPr>
            <a:lvl5pPr marL="1828800" marR="0" indent="0" algn="l" rtl="0">
              <a:spcBef>
                <a:spcPts val="0"/>
              </a:spcBef>
              <a:defRPr/>
            </a:lvl5pPr>
            <a:lvl6pPr marL="2286000" marR="0" indent="0" algn="l" rtl="0">
              <a:spcBef>
                <a:spcPts val="0"/>
              </a:spcBef>
              <a:defRPr/>
            </a:lvl6pPr>
            <a:lvl7pPr marL="2743200" marR="0" indent="0" algn="l" rtl="0">
              <a:spcBef>
                <a:spcPts val="0"/>
              </a:spcBef>
              <a:defRPr/>
            </a:lvl7pPr>
            <a:lvl8pPr marL="3200400" marR="0" indent="0" algn="l" rtl="0">
              <a:spcBef>
                <a:spcPts val="0"/>
              </a:spcBef>
              <a:defRPr/>
            </a:lvl8pPr>
            <a:lvl9pPr marL="3657600" marR="0" indent="0" algn="l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5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lvl="0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457200" lvl="1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914400" lvl="2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1371600" lvl="3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1828800" lvl="4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2286000" lvl="5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  <a:p>
            <a:pPr marL="2743200" lvl="6" indent="-88900">
              <a:spcBef>
                <a:spcPts val="0"/>
              </a:spcBef>
              <a:buClr>
                <a:srgbClr val="000000"/>
              </a:buClr>
              <a:buFont typeface="Arial"/>
              <a:buChar char="●"/>
            </a:pPr>
            <a:endParaRPr/>
          </a:p>
          <a:p>
            <a:pPr marL="3200400" lvl="7" indent="-88900">
              <a:spcBef>
                <a:spcPts val="0"/>
              </a:spcBef>
              <a:buClr>
                <a:srgbClr val="000000"/>
              </a:buClr>
              <a:buFont typeface="Courier New"/>
              <a:buChar char="o"/>
            </a:pPr>
            <a:endParaRPr/>
          </a:p>
          <a:p>
            <a:pPr marL="3657600" lvl="8" indent="-88900">
              <a:spcBef>
                <a:spcPts val="0"/>
              </a:spcBef>
              <a:buClr>
                <a:srgbClr val="000000"/>
              </a:buClr>
              <a:buFont typeface="Wingdings"/>
              <a:buChar char="§"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0%D0%BD%D0%B3%D0%BB%D0%B8%D0%B9%D1%81%D0%BA%D0%B8%D0%B9_%D1%8F%D0%B7%D1%8B%D0%BA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 l="-2999" r="-2999"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r>
              <a:rPr lang="ru-RU" sz="3600" dirty="0"/>
              <a:t>Основы жизненного цикла информационных систем</a:t>
            </a:r>
          </a:p>
        </p:txBody>
      </p:sp>
      <p:sp>
        <p:nvSpPr>
          <p:cNvPr id="81" name="Shape 8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799" cy="256713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640"/>
              </a:spcBef>
              <a:buClr>
                <a:schemeClr val="lt1"/>
              </a:buClr>
              <a:buSzPct val="25000"/>
              <a:buFont typeface="Calibri"/>
              <a:buNone/>
            </a:pPr>
            <a:r>
              <a:rPr lang="en-US" sz="3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Этапы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процесса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разработки</a:t>
            </a:r>
            <a:endParaRPr lang="en-US" sz="3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26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algn="l" rtl="0">
              <a:spcBef>
                <a:spcPts val="0"/>
              </a:spcBef>
              <a:buNone/>
            </a:pPr>
            <a:r>
              <a:rPr lang="en-US" sz="3000" dirty="0" err="1">
                <a:solidFill>
                  <a:schemeClr val="lt1"/>
                </a:solidFill>
              </a:rPr>
              <a:t>Этапы</a:t>
            </a:r>
            <a:r>
              <a:rPr lang="en-US" sz="3000" dirty="0">
                <a:solidFill>
                  <a:schemeClr val="lt1"/>
                </a:solidFill>
              </a:rPr>
              <a:t> </a:t>
            </a:r>
            <a:r>
              <a:rPr lang="en-US" sz="3000" dirty="0" err="1">
                <a:solidFill>
                  <a:schemeClr val="lt1"/>
                </a:solidFill>
              </a:rPr>
              <a:t>процесса</a:t>
            </a:r>
            <a:r>
              <a:rPr lang="en-US" sz="3000" dirty="0">
                <a:solidFill>
                  <a:schemeClr val="lt1"/>
                </a:solidFill>
              </a:rPr>
              <a:t> </a:t>
            </a:r>
            <a:r>
              <a:rPr lang="en-US" sz="3000" dirty="0" err="1">
                <a:solidFill>
                  <a:schemeClr val="lt1"/>
                </a:solidFill>
              </a:rPr>
              <a:t>разработки</a:t>
            </a:r>
            <a:r>
              <a:rPr lang="en-US" sz="3000" dirty="0">
                <a:solidFill>
                  <a:schemeClr val="lt1"/>
                </a:solidFill>
              </a:rPr>
              <a:t> </a:t>
            </a:r>
            <a:r>
              <a:rPr lang="ru-RU" sz="3000" dirty="0">
                <a:solidFill>
                  <a:schemeClr val="lt1"/>
                </a:solidFill>
              </a:rPr>
              <a:t>ИС</a:t>
            </a:r>
            <a:endParaRPr lang="en-US" sz="3000" dirty="0">
              <a:solidFill>
                <a:schemeClr val="lt1"/>
              </a:solidFill>
            </a:endParaRPr>
          </a:p>
        </p:txBody>
      </p:sp>
      <p:sp>
        <p:nvSpPr>
          <p:cNvPr id="88" name="Shape 8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indent="0" rtl="0">
              <a:spcBef>
                <a:spcPts val="600"/>
              </a:spcBef>
              <a:buNone/>
            </a:pPr>
            <a:r>
              <a:rPr lang="en-US" sz="1800"/>
              <a:t>Жизненный цикл ПО -  это последовательность этапов, которые проходит программа в ходе своего существования</a:t>
            </a:r>
          </a:p>
          <a:p>
            <a:pPr marL="0" indent="0" rtl="0">
              <a:spcBef>
                <a:spcPts val="600"/>
              </a:spcBef>
              <a:buNone/>
            </a:pPr>
            <a:endParaRPr sz="1800"/>
          </a:p>
          <a:p>
            <a:pPr marL="0" indent="0" rtl="0">
              <a:spcBef>
                <a:spcPts val="600"/>
              </a:spcBef>
              <a:buNone/>
            </a:pPr>
            <a:r>
              <a:rPr lang="en-US" sz="1800"/>
              <a:t>Классическими считаются: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1800"/>
              <a:t>Анализ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1800"/>
              <a:t>Проектирование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1800"/>
              <a:t>Разработка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1800"/>
              <a:t>Тестирование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1800"/>
              <a:t>Развертывание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Calibri"/>
              <a:buChar char="•"/>
            </a:pPr>
            <a:r>
              <a:rPr lang="en-US" sz="1800"/>
              <a:t>Использование</a:t>
            </a:r>
          </a:p>
          <a:p>
            <a:pPr>
              <a:spcBef>
                <a:spcPts val="0"/>
              </a:spcBef>
              <a:buNone/>
            </a:pPr>
            <a:endParaRPr sz="1800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26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000" dirty="0" err="1">
                <a:solidFill>
                  <a:schemeClr val="lt1"/>
                </a:solidFill>
              </a:rPr>
              <a:t>Этапы</a:t>
            </a:r>
            <a:r>
              <a:rPr lang="en-US" sz="3000" dirty="0">
                <a:solidFill>
                  <a:schemeClr val="lt1"/>
                </a:solidFill>
              </a:rPr>
              <a:t> </a:t>
            </a:r>
            <a:r>
              <a:rPr lang="en-US" sz="3000" dirty="0" err="1">
                <a:solidFill>
                  <a:schemeClr val="lt1"/>
                </a:solidFill>
              </a:rPr>
              <a:t>процесса</a:t>
            </a:r>
            <a:r>
              <a:rPr lang="en-US" sz="3000" dirty="0">
                <a:solidFill>
                  <a:schemeClr val="lt1"/>
                </a:solidFill>
              </a:rPr>
              <a:t> </a:t>
            </a:r>
            <a:r>
              <a:rPr lang="en-US" sz="3000" dirty="0" err="1">
                <a:solidFill>
                  <a:schemeClr val="lt1"/>
                </a:solidFill>
              </a:rPr>
              <a:t>разработки</a:t>
            </a:r>
            <a:r>
              <a:rPr lang="en-US" sz="3000" dirty="0">
                <a:solidFill>
                  <a:schemeClr val="lt1"/>
                </a:solidFill>
              </a:rPr>
              <a:t> </a:t>
            </a:r>
            <a:r>
              <a:rPr lang="ru-RU" sz="3000" dirty="0">
                <a:solidFill>
                  <a:schemeClr val="lt1"/>
                </a:solidFill>
              </a:rPr>
              <a:t>ИС</a:t>
            </a:r>
            <a:endParaRPr lang="en-US" sz="3000" dirty="0">
              <a:solidFill>
                <a:schemeClr val="lt1"/>
              </a:solidFill>
            </a:endParaRPr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800"/>
              <a:t>Это цикл не единственный , его можно расширить или сузить </a:t>
            </a:r>
          </a:p>
          <a:p>
            <a:pPr marL="714375" lvl="0" indent="-390525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800"/>
              <a:t>Бизнес-моделирование</a:t>
            </a:r>
          </a:p>
          <a:p>
            <a:pPr marL="714375" lvl="0" indent="-390525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800"/>
              <a:t>Анализ требований</a:t>
            </a:r>
          </a:p>
          <a:p>
            <a:pPr marL="714375" lvl="0" indent="-390525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800"/>
              <a:t>Планирование</a:t>
            </a:r>
          </a:p>
          <a:p>
            <a:pPr marL="714375" lvl="0" indent="-390525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800"/>
              <a:t>Разработка архитектуры</a:t>
            </a:r>
          </a:p>
          <a:p>
            <a:pPr marL="714375" lvl="0" indent="-390525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800"/>
              <a:t>Кодирование</a:t>
            </a:r>
          </a:p>
          <a:p>
            <a:pPr marL="714375" lvl="0" indent="-390525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800"/>
              <a:t>Тестирование и отладка</a:t>
            </a:r>
          </a:p>
          <a:p>
            <a:pPr marL="714375" lvl="0" indent="-390525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800"/>
              <a:t>Документирование</a:t>
            </a:r>
          </a:p>
          <a:p>
            <a:pPr marL="714375" lvl="0" indent="-390525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800"/>
              <a:t>Сертификация</a:t>
            </a:r>
          </a:p>
          <a:p>
            <a:pPr marL="714375" lvl="0" indent="-390525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800"/>
              <a:t>Внедрение</a:t>
            </a:r>
          </a:p>
          <a:p>
            <a:pPr marL="714375" lvl="0" indent="-390525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 sz="1800"/>
              <a:t>Сопровождение</a:t>
            </a:r>
          </a:p>
          <a:p>
            <a:pPr marL="0" indent="0" rtl="0">
              <a:spcBef>
                <a:spcPts val="600"/>
              </a:spcBef>
              <a:buNone/>
            </a:pPr>
            <a:endParaRPr sz="3000"/>
          </a:p>
          <a:p>
            <a:pPr lvl="0" rtl="0">
              <a:spcBef>
                <a:spcPts val="0"/>
              </a:spcBef>
              <a:buNone/>
            </a:pPr>
            <a:endParaRPr sz="1800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26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Распределение времени в проекте</a:t>
            </a:r>
          </a:p>
        </p:txBody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800"/>
              <a:t>Существует правило по которому распределяется время работы в проекте 30-40-30</a:t>
            </a:r>
          </a:p>
          <a:p>
            <a:pPr marL="91440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800"/>
              <a:t>30% - анализ и проектирование</a:t>
            </a:r>
          </a:p>
          <a:p>
            <a:pPr marL="91440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800"/>
              <a:t>40% - реализация проекта</a:t>
            </a:r>
          </a:p>
          <a:p>
            <a:pPr marL="91440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800"/>
              <a:t>30% - отладка и тестирование</a:t>
            </a:r>
          </a:p>
          <a:p>
            <a:pPr marL="0" indent="0" rtl="0">
              <a:spcBef>
                <a:spcPts val="600"/>
              </a:spcBef>
              <a:buNone/>
            </a:pPr>
            <a:endParaRPr sz="3000"/>
          </a:p>
          <a:p>
            <a:pPr marL="0" indent="0" algn="ctr" rtl="0">
              <a:spcBef>
                <a:spcPts val="600"/>
              </a:spcBef>
              <a:buNone/>
            </a:pPr>
            <a:r>
              <a:rPr lang="en-US" sz="3000">
                <a:solidFill>
                  <a:srgbClr val="38761D"/>
                </a:solidFill>
              </a:rPr>
              <a:t>30-20-10  хорошая команда</a:t>
            </a:r>
          </a:p>
          <a:p>
            <a:pPr marL="0" indent="0" algn="ctr" rtl="0">
              <a:spcBef>
                <a:spcPts val="600"/>
              </a:spcBef>
              <a:buNone/>
            </a:pPr>
            <a:r>
              <a:rPr lang="en-US" sz="3000">
                <a:solidFill>
                  <a:srgbClr val="980000"/>
                </a:solidFill>
              </a:rPr>
              <a:t>30-60-90  плохая команда</a:t>
            </a:r>
          </a:p>
          <a:p>
            <a:pPr lvl="0" rtl="0">
              <a:spcBef>
                <a:spcPts val="0"/>
              </a:spcBef>
              <a:buNone/>
            </a:pPr>
            <a:endParaRPr sz="1800"/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26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000" b="1">
                <a:solidFill>
                  <a:schemeClr val="lt1"/>
                </a:solidFill>
              </a:rPr>
              <a:t>Анализ проекта, </a:t>
            </a:r>
            <a:r>
              <a:rPr lang="en-US" sz="3000" b="1">
                <a:solidFill>
                  <a:srgbClr val="F4CCCC"/>
                </a:solidFill>
              </a:rPr>
              <a:t>списки требований</a:t>
            </a:r>
          </a:p>
        </p:txBody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6858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Разработка требований</a:t>
            </a:r>
          </a:p>
          <a:p>
            <a:pPr marL="914400" lvl="1" indent="-317500" rtl="0">
              <a:lnSpc>
                <a:spcPct val="150000"/>
              </a:lnSpc>
              <a:spcBef>
                <a:spcPts val="600"/>
              </a:spcBef>
              <a:spcAft>
                <a:spcPts val="2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Выявление требований</a:t>
            </a:r>
          </a:p>
          <a:p>
            <a:pPr marL="914400" lvl="1" indent="-317500" rtl="0">
              <a:lnSpc>
                <a:spcPct val="150000"/>
              </a:lnSpc>
              <a:spcBef>
                <a:spcPts val="600"/>
              </a:spcBef>
              <a:spcAft>
                <a:spcPts val="2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Анализ требований</a:t>
            </a:r>
          </a:p>
          <a:p>
            <a:pPr marL="914400" lvl="1" indent="-317500" rtl="0">
              <a:lnSpc>
                <a:spcPct val="150000"/>
              </a:lnSpc>
              <a:spcBef>
                <a:spcPts val="600"/>
              </a:spcBef>
              <a:spcAft>
                <a:spcPts val="2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Спецификация требований</a:t>
            </a:r>
          </a:p>
          <a:p>
            <a:pPr marL="914400" lvl="1" indent="-317500" rtl="0">
              <a:lnSpc>
                <a:spcPct val="150000"/>
              </a:lnSpc>
              <a:spcBef>
                <a:spcPts val="600"/>
              </a:spcBef>
              <a:spcAft>
                <a:spcPts val="2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Проверка требований</a:t>
            </a:r>
          </a:p>
          <a:p>
            <a:pPr marL="6858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Управление требованиями</a:t>
            </a:r>
          </a:p>
          <a:p>
            <a:pPr marL="914400" lvl="1" indent="-317500" rtl="0">
              <a:lnSpc>
                <a:spcPct val="150000"/>
              </a:lnSpc>
              <a:spcBef>
                <a:spcPts val="0"/>
              </a:spcBef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/>
              <a:t>После составления списка требований его необходимо от ранжировать</a:t>
            </a:r>
          </a:p>
          <a:p>
            <a:pPr marL="914400" lvl="1" indent="-317500" rtl="0">
              <a:lnSpc>
                <a:spcPct val="150000"/>
              </a:lnSpc>
              <a:spcBef>
                <a:spcPts val="0"/>
              </a:spcBef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/>
              <a:t>Реализация первоочередных требований (базовые)</a:t>
            </a:r>
          </a:p>
          <a:p>
            <a:pPr marL="914400" lvl="1" indent="-317500" rtl="0">
              <a:lnSpc>
                <a:spcPct val="150000"/>
              </a:lnSpc>
              <a:spcBef>
                <a:spcPts val="0"/>
              </a:spcBef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/>
              <a:t>Выявление несовместимых требований</a:t>
            </a:r>
          </a:p>
          <a:p>
            <a:pPr marL="914400" lvl="1" indent="-317500" rtl="0">
              <a:lnSpc>
                <a:spcPct val="150000"/>
              </a:lnSpc>
              <a:spcBef>
                <a:spcPts val="0"/>
              </a:spcBef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/>
              <a:t>Требования, которыми можно пожертвовать в кризисной ситуации (90% этим пользоваться не будет)</a:t>
            </a:r>
          </a:p>
          <a:p>
            <a:pPr marL="0" indent="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None/>
            </a:pPr>
            <a:endParaRPr>
              <a:solidFill>
                <a:srgbClr val="252525"/>
              </a:solidFill>
            </a:endParaRPr>
          </a:p>
          <a:p>
            <a:pPr marL="0" indent="0" rtl="0">
              <a:lnSpc>
                <a:spcPct val="150000"/>
              </a:lnSpc>
              <a:spcBef>
                <a:spcPts val="600"/>
              </a:spcBef>
              <a:buNone/>
            </a:pPr>
            <a:endParaRPr/>
          </a:p>
          <a:p>
            <a:pPr lvl="0" rtl="0">
              <a:spcBef>
                <a:spcPts val="0"/>
              </a:spcBef>
              <a:buNone/>
            </a:pPr>
            <a:endParaRPr sz="1800"/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26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000" b="1">
                <a:solidFill>
                  <a:schemeClr val="lt1"/>
                </a:solidFill>
              </a:rPr>
              <a:t>Анализ проекта, </a:t>
            </a:r>
            <a:r>
              <a:rPr lang="en-US" sz="3000" b="1">
                <a:solidFill>
                  <a:srgbClr val="F4CCCC"/>
                </a:solidFill>
              </a:rPr>
              <a:t>списки требований</a:t>
            </a:r>
          </a:p>
        </p:txBody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b="1"/>
              <a:t>Виды требований</a:t>
            </a: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/>
              <a:t>Функционал системы</a:t>
            </a:r>
          </a:p>
          <a:p>
            <a:pPr marL="914400" lvl="1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/>
              <a:t>Что должна делать система? (на общем уровне)</a:t>
            </a:r>
          </a:p>
          <a:p>
            <a:pPr marL="914400" lvl="1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/>
              <a:t>Как она должна это делать</a:t>
            </a:r>
          </a:p>
          <a:p>
            <a:pPr marL="914400" lvl="1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/>
              <a:t>В какой среде</a:t>
            </a: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/>
              <a:t>Качество реализации </a:t>
            </a:r>
          </a:p>
          <a:p>
            <a:pPr marL="914400" lvl="1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/>
              <a:t>Производительность</a:t>
            </a:r>
          </a:p>
          <a:p>
            <a:pPr marL="914400" lvl="1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/>
              <a:t>Время бесперебойной работы</a:t>
            </a:r>
          </a:p>
          <a:p>
            <a:pPr marL="914400" lvl="1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/>
              <a:t>Варианты обработки внештатных ситуаций</a:t>
            </a:r>
          </a:p>
          <a:p>
            <a:pPr marL="914400" lvl="1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/>
              <a:t>Качество тестов</a:t>
            </a:r>
          </a:p>
          <a:p>
            <a:pPr marL="914400" lvl="1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/>
              <a:t>Состав и объем документации (Техническое описание, базовые алгоритмы, видео уроки, сервис помощи, руководство по развертыванию и т.д.)</a:t>
            </a: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/>
              <a:t>Сроки реализации</a:t>
            </a:r>
          </a:p>
          <a:p>
            <a:pPr marL="457200" lvl="0" indent="-3175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/>
              <a:t>Стоимость разработки</a:t>
            </a:r>
          </a:p>
          <a:p>
            <a:pPr lvl="0" rtl="0">
              <a:spcBef>
                <a:spcPts val="0"/>
              </a:spcBef>
              <a:buNone/>
            </a:pPr>
            <a:endParaRPr>
              <a:solidFill>
                <a:srgbClr val="252525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26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Проектирование</a:t>
            </a:r>
          </a:p>
        </p:txBody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5269500" cy="8501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1800"/>
              <a:t>Разбиение системы на отдельные модули</a:t>
            </a:r>
          </a:p>
          <a:p>
            <a:pPr marL="457200" lvl="0" indent="-3429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US" sz="1800"/>
              <a:t>Определение функциональности модулей</a:t>
            </a:r>
          </a:p>
        </p:txBody>
      </p:sp>
      <p:sp>
        <p:nvSpPr>
          <p:cNvPr id="119" name="Shape 119"/>
          <p:cNvSpPr txBox="1"/>
          <p:nvPr/>
        </p:nvSpPr>
        <p:spPr>
          <a:xfrm>
            <a:off x="5262850" y="2312575"/>
            <a:ext cx="3423899" cy="2793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300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Сверху вниз</a:t>
            </a:r>
          </a:p>
          <a:p>
            <a:pPr lvl="0" indent="45720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rgbClr val="000000"/>
                </a:solidFill>
              </a:rPr>
              <a:t>Плюсы: </a:t>
            </a:r>
            <a:r>
              <a:rPr lang="en-US" sz="1100">
                <a:solidFill>
                  <a:srgbClr val="000000"/>
                </a:solidFill>
              </a:rPr>
              <a:t>разработка именно необходимой нам системы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rgbClr val="000000"/>
                </a:solidFill>
              </a:rPr>
              <a:t>	Минусы:  </a:t>
            </a:r>
            <a:r>
              <a:rPr lang="en-US" sz="1100">
                <a:solidFill>
                  <a:srgbClr val="000000"/>
                </a:solidFill>
              </a:rPr>
              <a:t>увеличенная стоимость с учетом  выполнения полного цикла работ и создания уникальных технологий</a:t>
            </a:r>
          </a:p>
          <a:p>
            <a:pPr lvl="0" rtl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1300" b="1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Снизу вверх</a:t>
            </a:r>
          </a:p>
          <a:p>
            <a:pPr lvl="0" indent="45720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rgbClr val="000000"/>
                </a:solidFill>
              </a:rPr>
              <a:t>Плюсы: </a:t>
            </a:r>
            <a:r>
              <a:rPr lang="en-US" sz="1100">
                <a:solidFill>
                  <a:srgbClr val="000000"/>
                </a:solidFill>
              </a:rPr>
              <a:t>стоимость разработки ниже за счет использования готовых модулей</a:t>
            </a:r>
          </a:p>
          <a:p>
            <a:pPr lvl="0" indent="45720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rgbClr val="000000"/>
                </a:solidFill>
              </a:rPr>
              <a:t>Минусы: </a:t>
            </a:r>
            <a:r>
              <a:rPr lang="en-US" sz="1100">
                <a:solidFill>
                  <a:srgbClr val="000000"/>
                </a:solidFill>
              </a:rPr>
              <a:t> возможны отклонения от начальной постановки задачи</a:t>
            </a:r>
          </a:p>
        </p:txBody>
      </p:sp>
      <p:pic>
        <p:nvPicPr>
          <p:cNvPr id="120" name="Shape 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6" y="2560150"/>
            <a:ext cx="4805650" cy="279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26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Списки требований</a:t>
            </a:r>
          </a:p>
        </p:txBody>
      </p:sp>
      <p:pic>
        <p:nvPicPr>
          <p:cNvPr id="126" name="Shape 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87" y="1612525"/>
            <a:ext cx="1971675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Shape 127"/>
          <p:cNvSpPr txBox="1"/>
          <p:nvPr/>
        </p:nvSpPr>
        <p:spPr>
          <a:xfrm>
            <a:off x="2441625" y="1612525"/>
            <a:ext cx="61380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52727"/>
              </a:lnSpc>
              <a:spcBef>
                <a:spcPts val="300"/>
              </a:spcBef>
              <a:buNone/>
            </a:pPr>
            <a:r>
              <a:rPr lang="en-US" sz="2400" b="1">
                <a:solidFill>
                  <a:srgbClr val="274E13"/>
                </a:solidFill>
              </a:rPr>
              <a:t>Преимущества</a:t>
            </a:r>
          </a:p>
          <a:p>
            <a:pPr marL="685800" lvl="0" indent="-29845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 sz="1100">
                <a:solidFill>
                  <a:srgbClr val="252525"/>
                </a:solidFill>
              </a:rPr>
              <a:t>Обеспечивает контрольный список требований.</a:t>
            </a:r>
          </a:p>
          <a:p>
            <a:pPr marL="685800" lvl="0" indent="-29845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 sz="1100">
                <a:solidFill>
                  <a:srgbClr val="252525"/>
                </a:solidFill>
              </a:rPr>
              <a:t>Обеспечивает договор между заказчиками и разработчиками.</a:t>
            </a:r>
          </a:p>
          <a:p>
            <a:pPr marL="685800" lvl="0" indent="-29845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 sz="1100">
                <a:solidFill>
                  <a:srgbClr val="252525"/>
                </a:solidFill>
              </a:rPr>
              <a:t>Для большой системы может обеспечить описание высокого уровня.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26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Списки требований</a:t>
            </a:r>
          </a:p>
        </p:txBody>
      </p:sp>
      <p:sp>
        <p:nvSpPr>
          <p:cNvPr id="133" name="Shape 133"/>
          <p:cNvSpPr txBox="1"/>
          <p:nvPr/>
        </p:nvSpPr>
        <p:spPr>
          <a:xfrm>
            <a:off x="2441625" y="1612525"/>
            <a:ext cx="61380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52727"/>
              </a:lnSpc>
              <a:spcBef>
                <a:spcPts val="300"/>
              </a:spcBef>
              <a:buNone/>
            </a:pPr>
            <a:r>
              <a:rPr lang="en-US" sz="2400" b="1">
                <a:solidFill>
                  <a:srgbClr val="5B0F00"/>
                </a:solidFill>
              </a:rPr>
              <a:t>Недостатки</a:t>
            </a:r>
          </a:p>
          <a:p>
            <a:pPr marL="457200" lvl="0" indent="-29845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 sz="1100">
                <a:solidFill>
                  <a:srgbClr val="252525"/>
                </a:solidFill>
              </a:rPr>
              <a:t>Такие списки могут занимать сотни страниц. Фактически невозможно прочитать такие документы в целом и получить чёткое понимание системы.</a:t>
            </a:r>
          </a:p>
          <a:p>
            <a:pPr marL="457200" lvl="0" indent="-29845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 sz="1100">
                <a:solidFill>
                  <a:srgbClr val="252525"/>
                </a:solidFill>
              </a:rPr>
              <a:t>Такие списки требований перечисляют отдельные требования абстрактно, оторваны друг от друга и от контекста использования (Абстракция лишает возможности видеть, как требования связываются между собой или работают вместе).</a:t>
            </a:r>
          </a:p>
        </p:txBody>
      </p:sp>
      <p:pic>
        <p:nvPicPr>
          <p:cNvPr id="134" name="Shape 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25" y="1736300"/>
            <a:ext cx="2287249" cy="298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26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Списки требований</a:t>
            </a:r>
          </a:p>
        </p:txBody>
      </p:sp>
      <p:sp>
        <p:nvSpPr>
          <p:cNvPr id="141" name="Shape 141"/>
          <p:cNvSpPr txBox="1"/>
          <p:nvPr/>
        </p:nvSpPr>
        <p:spPr>
          <a:xfrm>
            <a:off x="2441625" y="1612525"/>
            <a:ext cx="6138000" cy="4064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Такие списки могут занимать сотни страниц. Фактически невозможно прочитать такие документы в целом и получить чёткое понимание системы.</a:t>
            </a:r>
          </a:p>
          <a:p>
            <a:pPr marL="4572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Такие списки требований перечисляют отдельные требования абстрактно, оторваны друг от друга и от контекста использования (Абстракция лишает возможности видеть, как требования связываются между собой или работают вместе).</a:t>
            </a:r>
          </a:p>
          <a:p>
            <a:pPr marL="4572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Эти списки создают ложное чувство взаимопонимания между заинтересованными лицами и разработчиками.</a:t>
            </a:r>
          </a:p>
          <a:p>
            <a:pPr marL="4572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Эти списки дают заинтересованным лицам ложное чувство защищённости, что разработчики должны достигнуть определённых вещей. </a:t>
            </a:r>
          </a:p>
        </p:txBody>
      </p:sp>
      <p:pic>
        <p:nvPicPr>
          <p:cNvPr id="142" name="Shape 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25" y="1736300"/>
            <a:ext cx="2287249" cy="298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26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Какая же есть альтернатива?</a:t>
            </a:r>
          </a:p>
        </p:txBody>
      </p:sp>
      <p:pic>
        <p:nvPicPr>
          <p:cNvPr id="148" name="Shape 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600" y="1533375"/>
            <a:ext cx="3856799" cy="289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algn="l" rtl="0">
              <a:spcBef>
                <a:spcPts val="0"/>
              </a:spcBef>
              <a:buNone/>
            </a:pPr>
            <a:r>
              <a:rPr lang="en-US" sz="2400" b="1">
                <a:solidFill>
                  <a:schemeClr val="lt1"/>
                </a:solidFill>
              </a:rPr>
              <a:t>Пользовательские истории (User stories)</a:t>
            </a:r>
          </a:p>
        </p:txBody>
      </p:sp>
      <p:sp>
        <p:nvSpPr>
          <p:cNvPr id="154" name="Shape 15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1857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0" indent="0" rtl="0">
              <a:spcBef>
                <a:spcPts val="600"/>
              </a:spcBef>
              <a:buNone/>
            </a:pPr>
            <a:r>
              <a:rPr lang="en-US" sz="3000"/>
              <a:t>Что это такое?</a:t>
            </a:r>
          </a:p>
          <a:p>
            <a:pPr mar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1100" b="1">
              <a:solidFill>
                <a:srgbClr val="252525"/>
              </a:solidFill>
            </a:endParaRPr>
          </a:p>
          <a:p>
            <a:pPr marL="0" indent="0" rtl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rgbClr val="252525"/>
                </a:solidFill>
              </a:rPr>
              <a:t>Пользовательские истории</a:t>
            </a:r>
            <a:r>
              <a:rPr lang="en-US" sz="1100">
                <a:solidFill>
                  <a:srgbClr val="252525"/>
                </a:solidFill>
              </a:rPr>
              <a:t> (</a:t>
            </a:r>
            <a:r>
              <a:rPr lang="en-US" sz="1100">
                <a:solidFill>
                  <a:srgbClr val="0B0080"/>
                </a:solidFill>
                <a:hlinkClick r:id="rId3"/>
              </a:rPr>
              <a:t>англ.</a:t>
            </a:r>
            <a:r>
              <a:rPr lang="en-US" sz="1100">
                <a:solidFill>
                  <a:srgbClr val="252525"/>
                </a:solidFill>
              </a:rPr>
              <a:t> </a:t>
            </a:r>
            <a:r>
              <a:rPr lang="en-US" sz="1100" i="1">
                <a:solidFill>
                  <a:srgbClr val="252525"/>
                </a:solidFill>
              </a:rPr>
              <a:t>User Story</a:t>
            </a:r>
            <a:r>
              <a:rPr lang="en-US" sz="1100">
                <a:solidFill>
                  <a:srgbClr val="252525"/>
                </a:solidFill>
              </a:rPr>
              <a:t>) — способ описания требований к разрабатываемой системе, сформулированных как одно или более предложений на ежедневном или деловом языке пользователя.</a:t>
            </a:r>
          </a:p>
          <a:p>
            <a:pPr marL="0" indent="0" rtl="0">
              <a:lnSpc>
                <a:spcPct val="115000"/>
              </a:lnSpc>
              <a:spcBef>
                <a:spcPts val="0"/>
              </a:spcBef>
              <a:buNone/>
            </a:pPr>
            <a:endParaRPr sz="1100">
              <a:solidFill>
                <a:srgbClr val="252525"/>
              </a:solidFill>
            </a:endParaRPr>
          </a:p>
          <a:p>
            <a:pPr marL="0" indent="0" rtl="0">
              <a:spcBef>
                <a:spcPts val="600"/>
              </a:spcBef>
              <a:buNone/>
            </a:pPr>
            <a:r>
              <a:rPr lang="en-US" sz="9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Служат не для документации требований, а скорее, напоминанием заказчику о наличии таковых для дальнейших обсуждений продукта с командой</a:t>
            </a:r>
          </a:p>
          <a:p>
            <a:pPr>
              <a:spcBef>
                <a:spcPts val="0"/>
              </a:spcBef>
              <a:buNone/>
            </a:pPr>
            <a:endParaRPr/>
          </a:p>
        </p:txBody>
      </p:sp>
      <p:pic>
        <p:nvPicPr>
          <p:cNvPr id="155" name="Shape 1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3649" y="4012300"/>
            <a:ext cx="2074625" cy="232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2400" b="1">
                <a:solidFill>
                  <a:schemeClr val="lt1"/>
                </a:solidFill>
              </a:rPr>
              <a:t>Почему же обсуждение требований так важно?</a:t>
            </a:r>
          </a:p>
        </p:txBody>
      </p:sp>
      <p:sp>
        <p:nvSpPr>
          <p:cNvPr id="161" name="Shape 161"/>
          <p:cNvSpPr txBox="1">
            <a:spLocks noGrp="1"/>
          </p:cNvSpPr>
          <p:nvPr>
            <p:ph type="body" idx="1"/>
          </p:nvPr>
        </p:nvSpPr>
        <p:spPr>
          <a:xfrm>
            <a:off x="300400" y="1600200"/>
            <a:ext cx="8229600" cy="381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749300" lvl="0" indent="-31750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Заказчик не может учесть всех аспектов продукта самостоятельно, так как требования должны «лечь» на технологии. Только совместные усилия заказчика и команды в поиске решений и компромиссов дают оптимальные результаты</a:t>
            </a:r>
          </a:p>
          <a:p>
            <a:pPr marL="749300" lvl="0" indent="-31750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Детализация требований посредством обсуждений дает возможность всем участникам понять суть требований и, так образом, обзавестись базой для принятия оптимальных решений</a:t>
            </a:r>
          </a:p>
          <a:p>
            <a:pPr marL="749300" lvl="0" indent="-31750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Изначально упуская некоторые аспекты историй и оставляя тем самым место для дискуссий, заказчик расширяет область поиска решений. Это приводит к расширению кругозора участников проекта и, как следствие, к предпосылкам нахождения более приемлемых решений;</a:t>
            </a:r>
          </a:p>
          <a:p>
            <a:pPr marL="749300" lvl="0" indent="-31750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Свобода поиска решений является отличным мотивирующим механизмом, что делает повседневную работу команды более интересной.</a:t>
            </a:r>
          </a:p>
          <a:p>
            <a:pPr lvl="0" rtl="0">
              <a:spcBef>
                <a:spcPts val="0"/>
              </a:spcBef>
              <a:buNone/>
            </a:pPr>
            <a:endParaRPr sz="3000"/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2400" b="1">
                <a:solidFill>
                  <a:schemeClr val="lt1"/>
                </a:solidFill>
              </a:rPr>
              <a:t>Почему же обсуждение требований так важно?</a:t>
            </a:r>
          </a:p>
        </p:txBody>
      </p:sp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300400" y="1600200"/>
            <a:ext cx="8229600" cy="726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17500" rtl="0">
              <a:lnSpc>
                <a:spcPct val="115000"/>
              </a:lnSpc>
              <a:spcBef>
                <a:spcPts val="600"/>
              </a:spcBef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видение (vision) системы</a:t>
            </a:r>
          </a:p>
          <a:p>
            <a:pPr marL="457200" lvl="0" indent="-317500" rtl="0">
              <a:lnSpc>
                <a:spcPct val="115000"/>
              </a:lnSpc>
              <a:spcBef>
                <a:spcPts val="600"/>
              </a:spcBef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пользовательские роли</a:t>
            </a:r>
          </a:p>
          <a:p>
            <a:pPr marL="0" indent="0" rtl="0">
              <a:lnSpc>
                <a:spcPct val="115000"/>
              </a:lnSpc>
              <a:spcBef>
                <a:spcPts val="600"/>
              </a:spcBef>
              <a:buNone/>
            </a:pPr>
            <a:endParaRPr sz="900">
              <a:solidFill>
                <a:srgbClr val="39393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rtl="0">
              <a:spcBef>
                <a:spcPts val="0"/>
              </a:spcBef>
              <a:buNone/>
            </a:pPr>
            <a:endParaRPr>
              <a:solidFill>
                <a:srgbClr val="39393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8" name="Shape 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975" y="2368187"/>
            <a:ext cx="60960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Shape 169"/>
          <p:cNvSpPr txBox="1"/>
          <p:nvPr/>
        </p:nvSpPr>
        <p:spPr>
          <a:xfrm>
            <a:off x="373775" y="3662300"/>
            <a:ext cx="8330399" cy="1923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/>
              <a:t>Actor, роль</a:t>
            </a: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 – одна из обобщенных пользовательских ролей;</a:t>
            </a:r>
          </a:p>
          <a:p>
            <a:pPr lvl="0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/>
              <a:t>действие</a:t>
            </a: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 – действие, выполняемое пользователем посредством взаимодействия с системой;</a:t>
            </a:r>
          </a:p>
          <a:p>
            <a:pPr lvl="0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/>
              <a:t>цель, ценность</a:t>
            </a: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 – конечная цель текущей задачи, выполняемой пользователем посредством взаимодействия с системой.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Пример</a:t>
            </a:r>
          </a:p>
        </p:txBody>
      </p:sp>
      <p:sp>
        <p:nvSpPr>
          <p:cNvPr id="175" name="Shape 175"/>
          <p:cNvSpPr txBox="1"/>
          <p:nvPr/>
        </p:nvSpPr>
        <p:spPr>
          <a:xfrm>
            <a:off x="333400" y="1631925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b="1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Видение(Vision)</a:t>
            </a:r>
          </a:p>
          <a:p>
            <a:pPr lvl="0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У нас (заказчиков) есть потребность в реализации системы, которая бы позволила пользователям хранить и обмениваться фотографиями. Ожидается, что прибыль от системы будет достигаться за счет процента с продаж пользователями своих фотографий, также, возможно, за счет рекламы третьих компаний.</a:t>
            </a:r>
          </a:p>
          <a:p>
            <a:pPr lvl="0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b="1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Итак, истории:</a:t>
            </a:r>
          </a:p>
          <a:p>
            <a:pPr marL="749300" lvl="0" indent="-298450" rtl="0">
              <a:lnSpc>
                <a:spcPct val="152727"/>
              </a:lnSpc>
              <a:spcBef>
                <a:spcPts val="0"/>
              </a:spcBef>
              <a:buClr>
                <a:srgbClr val="393939"/>
              </a:buClr>
              <a:buSzPct val="100000"/>
              <a:buFont typeface="Verdana"/>
              <a:buAutoNum type="arabicPeriod"/>
            </a:pPr>
            <a:r>
              <a:rPr lang="en-US" sz="11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пользователь я могу хранить свои фотографии в системе, чтобы иметь возможность показать или продать их другим пользователям.</a:t>
            </a:r>
          </a:p>
          <a:p>
            <a:pPr marL="749300" lvl="0" indent="-298450" rtl="0">
              <a:lnSpc>
                <a:spcPct val="152727"/>
              </a:lnSpc>
              <a:spcBef>
                <a:spcPts val="0"/>
              </a:spcBef>
              <a:buClr>
                <a:srgbClr val="393939"/>
              </a:buClr>
              <a:buSzPct val="100000"/>
              <a:buFont typeface="Verdana"/>
              <a:buAutoNum type="arabicPeriod"/>
            </a:pPr>
            <a:r>
              <a:rPr lang="en-US" sz="11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рекламодатель я могу помещать свою рекламу в системе, ориентированную на пользователей.</a:t>
            </a:r>
          </a:p>
          <a:p>
            <a:pPr marL="749300" lvl="0" indent="-298450" rtl="0">
              <a:lnSpc>
                <a:spcPct val="152727"/>
              </a:lnSpc>
              <a:spcBef>
                <a:spcPts val="0"/>
              </a:spcBef>
              <a:buClr>
                <a:srgbClr val="393939"/>
              </a:buClr>
              <a:buSzPct val="100000"/>
              <a:buFont typeface="Verdana"/>
              <a:buAutoNum type="arabicPeriod"/>
            </a:pPr>
            <a:r>
              <a:rPr lang="en-US" sz="11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администратор я могу управлять фотографиями пользователей, так чтобы контент сайта был легальным.</a:t>
            </a:r>
          </a:p>
          <a:p>
            <a:pPr lvl="0" rtl="0">
              <a:spcBef>
                <a:spcPts val="600"/>
              </a:spcBef>
              <a:buNone/>
            </a:pP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000" b="1">
                <a:solidFill>
                  <a:schemeClr val="lt1"/>
                </a:solidFill>
              </a:rPr>
              <a:t>Во время обсуждения первой истории</a:t>
            </a:r>
          </a:p>
        </p:txBody>
      </p:sp>
      <p:sp>
        <p:nvSpPr>
          <p:cNvPr id="181" name="Shape 181"/>
          <p:cNvSpPr txBox="1"/>
          <p:nvPr/>
        </p:nvSpPr>
        <p:spPr>
          <a:xfrm>
            <a:off x="358175" y="1566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749300" lvl="0" indent="-31750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пользователь я могу хранить свои фотографии в системе, чтобы иметь возможность показать или продать их другим пользователям.</a:t>
            </a:r>
          </a:p>
          <a:p>
            <a:pPr marL="749300" lvl="0" indent="-31750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рекламодатель я могу помещать свою рекламу в системе, ориентированную на пользователей.</a:t>
            </a:r>
          </a:p>
          <a:p>
            <a:pPr marL="749300" lvl="0" indent="-31750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администратор я могу управлять фотографиями пользователей, так чтобы контент сайта был легальным.</a:t>
            </a:r>
          </a:p>
          <a:p>
            <a:pPr marL="749300" lvl="0" indent="-317500" rtl="0">
              <a:lnSpc>
                <a:spcPct val="152727"/>
              </a:lnSpc>
              <a:spcBef>
                <a:spcPts val="0"/>
              </a:spcBef>
              <a:buClr>
                <a:srgbClr val="393939"/>
              </a:buClr>
              <a:buSzPct val="100000"/>
              <a:buFont typeface="Verdana"/>
              <a:buAutoNum type="arabicPeriod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гость я могу зарегистрироваться в системе для получения пользовательской учетной записи и последующей работы.</a:t>
            </a:r>
          </a:p>
          <a:p>
            <a:pPr marL="749300" lvl="0" indent="-317500" rtl="0">
              <a:lnSpc>
                <a:spcPct val="152727"/>
              </a:lnSpc>
              <a:spcBef>
                <a:spcPts val="0"/>
              </a:spcBef>
              <a:buClr>
                <a:srgbClr val="393939"/>
              </a:buClr>
              <a:buSzPct val="100000"/>
              <a:buFont typeface="Verdana"/>
              <a:buAutoNum type="arabicPeriod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гость я могу войти в систему под ранее созданной учетной записью, для последующей работы.</a:t>
            </a:r>
          </a:p>
          <a:p>
            <a:pPr lvl="0" rtl="0">
              <a:spcBef>
                <a:spcPts val="600"/>
              </a:spcBef>
              <a:buNone/>
            </a:pP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000" b="1">
                <a:solidFill>
                  <a:schemeClr val="lt1"/>
                </a:solidFill>
              </a:rPr>
              <a:t>Пользуясь принципом симметричности требований</a:t>
            </a:r>
          </a:p>
        </p:txBody>
      </p:sp>
      <p:sp>
        <p:nvSpPr>
          <p:cNvPr id="187" name="Shape 187"/>
          <p:cNvSpPr txBox="1"/>
          <p:nvPr/>
        </p:nvSpPr>
        <p:spPr>
          <a:xfrm>
            <a:off x="358175" y="1566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29845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 sz="11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пользователь я могу хранить свои фотографии в системе, чтобы иметь возможность показать или продать их другим пользователям.</a:t>
            </a:r>
          </a:p>
          <a:p>
            <a:pPr marL="457200" lvl="0" indent="-29845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 sz="11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рекламодатель я могу помещать свою рекламу в системе, ориентированную на пользователей.</a:t>
            </a:r>
          </a:p>
          <a:p>
            <a:pPr marL="457200" lvl="0" indent="-29845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 sz="11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администратор я могу управлять фотографиями пользователей, так чтобы контент сайта был легальным.</a:t>
            </a:r>
          </a:p>
          <a:p>
            <a:pPr marL="457200" lvl="0" indent="-29845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 sz="11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гость я могу зарегистрироваться в системе для получения пользовательской учетной записи и последующей работы.</a:t>
            </a:r>
          </a:p>
          <a:p>
            <a:pPr marL="457200" lvl="0" indent="-29845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 sz="11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гость я могу войти в систему под ранее созданной учетной записью, для последующей работы.</a:t>
            </a:r>
          </a:p>
          <a:p>
            <a:pPr marL="457200" lvl="0" indent="-317500" rtl="0">
              <a:lnSpc>
                <a:spcPct val="152727"/>
              </a:lnSpc>
              <a:spcBef>
                <a:spcPts val="0"/>
              </a:spcBef>
              <a:buClr>
                <a:srgbClr val="393939"/>
              </a:buClr>
              <a:buSzPct val="100000"/>
              <a:buFont typeface="Verdana"/>
              <a:buAutoNum type="arabicPeriod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пользователь я могу удалить свою учетную запись и перестать быть пользователем системы.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000" b="1">
                <a:solidFill>
                  <a:schemeClr val="lt1"/>
                </a:solidFill>
              </a:rPr>
              <a:t>Обсуждая концепцию учетных записей, рождаются также следующие истории</a:t>
            </a:r>
          </a:p>
        </p:txBody>
      </p:sp>
      <p:sp>
        <p:nvSpPr>
          <p:cNvPr id="193" name="Shape 193"/>
          <p:cNvSpPr txBox="1"/>
          <p:nvPr/>
        </p:nvSpPr>
        <p:spPr>
          <a:xfrm>
            <a:off x="358175" y="1566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29210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 sz="10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пользователь я могу хранить свои фотографии в системе, чтобы иметь возможность показать или продать их другим пользователям.</a:t>
            </a:r>
          </a:p>
          <a:p>
            <a:pPr marL="457200" lvl="0" indent="-29210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 sz="10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рекламодатель я могу помещать свою рекламу в системе, ориентированную на пользователей.</a:t>
            </a:r>
          </a:p>
          <a:p>
            <a:pPr marL="457200" lvl="0" indent="-29210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 sz="10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администратор я могу управлять фотографиями пользователей, так чтобы контент сайта был легальным.</a:t>
            </a:r>
          </a:p>
          <a:p>
            <a:pPr marL="457200" lvl="0" indent="-29210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 sz="10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гость я могу зарегистрироваться в системе для получения пользовательской учетной записи и последующей работы.</a:t>
            </a:r>
          </a:p>
          <a:p>
            <a:pPr marL="457200" lvl="0" indent="-29210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 sz="10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гость я могу войти в систему под ранее созданной учетной записью, для последующей работы.</a:t>
            </a:r>
          </a:p>
          <a:p>
            <a:pPr marL="457200" lvl="0" indent="-292100" rtl="0">
              <a:lnSpc>
                <a:spcPct val="152727"/>
              </a:lnSpc>
              <a:spcBef>
                <a:spcPts val="0"/>
              </a:spcBef>
              <a:buClr>
                <a:srgbClr val="999999"/>
              </a:buClr>
              <a:buSzPct val="100000"/>
              <a:buFont typeface="Verdana"/>
              <a:buAutoNum type="arabicPeriod"/>
            </a:pPr>
            <a:r>
              <a:rPr lang="en-US" sz="1000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Как пользователь я могу удалить свою учетную запись и перестать быть пользователем системы.</a:t>
            </a:r>
          </a:p>
          <a:p>
            <a:pPr marL="457200" lvl="0" indent="-317500" rtl="0">
              <a:lnSpc>
                <a:spcPct val="152727"/>
              </a:lnSpc>
              <a:spcBef>
                <a:spcPts val="0"/>
              </a:spcBef>
              <a:buClr>
                <a:srgbClr val="393939"/>
              </a:buClr>
              <a:buSzPct val="100000"/>
              <a:buFont typeface="Verdana"/>
              <a:buAutoNum type="arabicPeriod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пользователь я могу изменить данные своей учетной записи.</a:t>
            </a:r>
          </a:p>
          <a:p>
            <a:pPr marL="457200" lvl="0" indent="-317500" rtl="0">
              <a:lnSpc>
                <a:spcPct val="152727"/>
              </a:lnSpc>
              <a:spcBef>
                <a:spcPts val="0"/>
              </a:spcBef>
              <a:buClr>
                <a:srgbClr val="393939"/>
              </a:buClr>
              <a:buSzPct val="100000"/>
              <a:buFont typeface="Verdana"/>
              <a:buAutoNum type="arabicPeriod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пользователь я могу сделать некоторые поля своей учетной записи видимыми для других пользователей.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000" b="1">
                <a:solidFill>
                  <a:schemeClr val="lt1"/>
                </a:solidFill>
              </a:rPr>
              <a:t>Куда подевались детали?</a:t>
            </a:r>
          </a:p>
        </p:txBody>
      </p:sp>
      <p:sp>
        <p:nvSpPr>
          <p:cNvPr id="199" name="Shape 199"/>
          <p:cNvSpPr txBox="1"/>
          <p:nvPr/>
        </p:nvSpPr>
        <p:spPr>
          <a:xfrm>
            <a:off x="358175" y="1566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  <a:buClr>
                <a:srgbClr val="393939"/>
              </a:buClr>
              <a:buFont typeface="Verdana"/>
              <a:buNone/>
            </a:pPr>
            <a:r>
              <a:rPr lang="en-US" sz="2400">
                <a:solidFill>
                  <a:srgbClr val="3939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без понимания деталей программист может написать адекватный код, а тестировщик его принять? </a:t>
            </a:r>
          </a:p>
          <a:p>
            <a:pPr marL="457200" lvl="0" indent="-228600" rtl="0">
              <a:spcBef>
                <a:spcPts val="0"/>
              </a:spcBef>
              <a:buClr>
                <a:srgbClr val="393939"/>
              </a:buClr>
              <a:buFont typeface="Verdana"/>
              <a:buNone/>
            </a:pPr>
            <a:endParaRPr sz="2400">
              <a:solidFill>
                <a:srgbClr val="3939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rtl="0">
              <a:spcBef>
                <a:spcPts val="0"/>
              </a:spcBef>
              <a:buClr>
                <a:srgbClr val="393939"/>
              </a:buClr>
              <a:buFont typeface="Verdana"/>
              <a:buNone/>
            </a:pPr>
            <a:r>
              <a:rPr lang="en-US" sz="2400">
                <a:solidFill>
                  <a:srgbClr val="3939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Детали необходимы. 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000" b="1">
                <a:solidFill>
                  <a:schemeClr val="lt1"/>
                </a:solidFill>
              </a:rPr>
              <a:t>Куда подевались детали?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x="358175" y="1566150"/>
            <a:ext cx="8229600" cy="4820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rtl="0">
              <a:spcBef>
                <a:spcPts val="0"/>
              </a:spcBef>
              <a:buClr>
                <a:srgbClr val="393939"/>
              </a:buClr>
              <a:buFont typeface="Verdana"/>
              <a:buNone/>
            </a:pPr>
            <a:r>
              <a:rPr lang="en-US" sz="2400">
                <a:solidFill>
                  <a:srgbClr val="3939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без понимания деталей программист может написать адекватный код, а тестировщик его принять? </a:t>
            </a:r>
          </a:p>
          <a:p>
            <a:pPr marL="457200" lvl="0" indent="-228600" rtl="0">
              <a:spcBef>
                <a:spcPts val="0"/>
              </a:spcBef>
              <a:buClr>
                <a:srgbClr val="393939"/>
              </a:buClr>
              <a:buFont typeface="Verdana"/>
              <a:buNone/>
            </a:pPr>
            <a:endParaRPr sz="2400">
              <a:solidFill>
                <a:srgbClr val="3939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rtl="0">
              <a:spcBef>
                <a:spcPts val="0"/>
              </a:spcBef>
              <a:buClr>
                <a:srgbClr val="393939"/>
              </a:buClr>
              <a:buFont typeface="Verdana"/>
              <a:buNone/>
            </a:pPr>
            <a:r>
              <a:rPr lang="en-US" sz="2400">
                <a:solidFill>
                  <a:srgbClr val="3939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Детали необходимы. </a:t>
            </a:r>
          </a:p>
          <a:p>
            <a:pPr marL="457200" lvl="0" indent="-228600" rtl="0">
              <a:spcBef>
                <a:spcPts val="0"/>
              </a:spcBef>
              <a:buClr>
                <a:srgbClr val="393939"/>
              </a:buClr>
              <a:buFont typeface="Verdana"/>
              <a:buNone/>
            </a:pPr>
            <a:endParaRPr sz="2400">
              <a:solidFill>
                <a:srgbClr val="3939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rtl="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78571"/>
              <a:buFont typeface="Arial"/>
              <a:buNone/>
            </a:pPr>
            <a:r>
              <a:rPr lang="en-US" b="1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Детали историй</a:t>
            </a: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 – это больше не неизменная часть требований, которые продумываются заказчиками во время написания требований и предъявляются команде в готовом виде. Вместо этого заказчик и команда во время обсуждений историй совместно приходят к понимаю уровня детализации, который необходим на текущей фазе, и принимают совместные решения, пополняя истории все большим количеством информации.</a:t>
            </a:r>
          </a:p>
          <a:p>
            <a:pPr marL="457200" lvl="0" indent="-228600" rtl="0">
              <a:spcBef>
                <a:spcPts val="0"/>
              </a:spcBef>
              <a:buClr>
                <a:srgbClr val="393939"/>
              </a:buClr>
              <a:buFont typeface="Verdana"/>
              <a:buNone/>
            </a:pPr>
            <a:endParaRPr sz="2400">
              <a:solidFill>
                <a:srgbClr val="3939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Пример детализации истории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382925" y="1566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8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гость я могу зарегистрироваться в системе для получения пользовательской учетной записи и последующей работы.</a:t>
            </a:r>
          </a:p>
          <a:p>
            <a:pPr lvl="0" rtl="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sz="1800">
              <a:solidFill>
                <a:srgbClr val="39393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 rtl="0">
              <a:spcBef>
                <a:spcPts val="600"/>
              </a:spcBef>
              <a:buNone/>
            </a:pPr>
            <a:r>
              <a:rPr lang="en-US" sz="2400" b="1">
                <a:solidFill>
                  <a:srgbClr val="000000"/>
                </a:solidFill>
              </a:rPr>
              <a:t>Что нужно, чтобы гость смог зарегистрироваться в системе?</a:t>
            </a:r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Пример детализации истории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374675" y="1522025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600"/>
              </a:spcBef>
              <a:buNone/>
            </a:pPr>
            <a:r>
              <a:rPr lang="en-US" sz="18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гость я могу зарегистрироваться в системе для получения пользовательской учетной записи и последующей работы.</a:t>
            </a:r>
          </a:p>
          <a:p>
            <a:pPr lvl="0" rtl="0">
              <a:spcBef>
                <a:spcPts val="600"/>
              </a:spcBef>
              <a:buNone/>
            </a:pPr>
            <a:endParaRPr>
              <a:solidFill>
                <a:srgbClr val="39393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rtl="0">
              <a:spcBef>
                <a:spcPts val="600"/>
              </a:spcBef>
              <a:buNone/>
            </a:pPr>
            <a:endParaRPr>
              <a:solidFill>
                <a:srgbClr val="39393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rtl="0">
              <a:spcBef>
                <a:spcPts val="600"/>
              </a:spcBef>
              <a:buNone/>
            </a:pPr>
            <a:endParaRPr>
              <a:solidFill>
                <a:srgbClr val="39393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 rtl="0">
              <a:spcBef>
                <a:spcPts val="600"/>
              </a:spcBef>
              <a:buNone/>
            </a:pPr>
            <a:r>
              <a:rPr lang="en-US" sz="1800" b="1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Нужен проверенный email и выбранные пользователем имя и пароль.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Пример детализации истории</a:t>
            </a:r>
          </a:p>
        </p:txBody>
      </p:sp>
      <p:sp>
        <p:nvSpPr>
          <p:cNvPr id="223" name="Shape 223"/>
          <p:cNvSpPr txBox="1"/>
          <p:nvPr/>
        </p:nvSpPr>
        <p:spPr>
          <a:xfrm>
            <a:off x="283900" y="152200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гость я могу зарегистрироваться в системе для получения пользовательской учетной записи и последующей работы. </a:t>
            </a:r>
          </a:p>
          <a:p>
            <a:pPr lvl="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Нужен проверенный email и выбранные пользователем имя и пароль.</a:t>
            </a:r>
          </a:p>
          <a:p>
            <a:pPr marL="749300" lvl="0" indent="-31750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Тест 1: пользователь не может ввести пароль меньше 6 символов</a:t>
            </a:r>
          </a:p>
          <a:p>
            <a:pPr marL="749300" lvl="0" indent="-31750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Тест 2: пользователь не может ввести имя меньше 3 и больше 20 символов</a:t>
            </a:r>
          </a:p>
          <a:p>
            <a:pPr marL="749300" lvl="0" indent="-31750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Тест 3: пользователь должен иметь уникальное имя в системе</a:t>
            </a:r>
          </a:p>
          <a:p>
            <a:pPr marL="749300" lvl="0" indent="-31750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Тест 4: после регистрации пользователь должен получить имейл для активизации своей учетной записи</a:t>
            </a:r>
          </a:p>
          <a:p>
            <a:pPr marL="749300" lvl="0" indent="-31750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Тест 5: пользователь не может войти в систему, если учетная запись не была активизирована</a:t>
            </a:r>
          </a:p>
          <a:p>
            <a:pPr marL="749300" lvl="0" indent="-317500" rtl="0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Тест 6: при успешном входе система приветствует пользователя текстом «Добро пожаловать, имя пользователя»</a:t>
            </a:r>
          </a:p>
          <a:p>
            <a:pPr lvl="0" rtl="0">
              <a:lnSpc>
                <a:spcPct val="115000"/>
              </a:lnSpc>
              <a:spcBef>
                <a:spcPts val="600"/>
              </a:spcBef>
              <a:buNone/>
            </a:pP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Инструменты работы с историями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242625" y="1566150"/>
            <a:ext cx="8229600" cy="3725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600"/>
              </a:spcBef>
              <a:buNone/>
            </a:pPr>
            <a:r>
              <a:rPr lang="en-US" sz="18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Упорядочивание</a:t>
            </a:r>
          </a:p>
          <a:p>
            <a:pPr lvl="0" rtl="0">
              <a:spcBef>
                <a:spcPts val="600"/>
              </a:spcBef>
              <a:buNone/>
            </a:pPr>
            <a:r>
              <a:rPr lang="en-US" sz="12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Пользуясь знанием рынка, а также здравым смыслом (к сожалению на сегодняшний день оба этих критерия не поддаются численной оценке), заказчик выстраивает список историй таким образом, чтобы максимизировать возврат вложений от проекта.</a:t>
            </a:r>
          </a:p>
          <a:p>
            <a:pPr lvl="0" rtl="0">
              <a:spcBef>
                <a:spcPts val="600"/>
              </a:spcBef>
              <a:buNone/>
            </a:pPr>
            <a:r>
              <a:rPr lang="en-US" sz="18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Разбиение</a:t>
            </a:r>
          </a:p>
          <a:p>
            <a:pPr lvl="0" rtl="0">
              <a:lnSpc>
                <a:spcPct val="152727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пользователь я могу хранить свои фотографии в системе, чтобы иметь возможность показать или продать их другим пользователям.</a:t>
            </a:r>
          </a:p>
          <a:p>
            <a:pPr marL="914400" lvl="0" indent="-304800" rtl="0">
              <a:lnSpc>
                <a:spcPct val="152727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 sz="12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пользователь я могу хранить свои фотографии в системе, чтобы иметь возможность показать их другим пользователям.</a:t>
            </a:r>
          </a:p>
          <a:p>
            <a:pPr marL="914400" lvl="0" indent="-304800" rtl="0">
              <a:lnSpc>
                <a:spcPct val="152727"/>
              </a:lnSpc>
              <a:spcBef>
                <a:spcPts val="400"/>
              </a:spcBef>
              <a:spcAft>
                <a:spcPts val="400"/>
              </a:spcAft>
              <a:buClr>
                <a:srgbClr val="393939"/>
              </a:buClr>
              <a:buSzPct val="100000"/>
              <a:buFont typeface="Arial"/>
              <a:buChar char="●"/>
            </a:pPr>
            <a:r>
              <a:rPr lang="en-US" sz="12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Как пользователь я могу хранить свои фотографии в системе, чтобы иметь возможность продать их другим пользователям.</a:t>
            </a:r>
          </a:p>
          <a:p>
            <a:pPr lvl="0" rtl="0">
              <a:spcBef>
                <a:spcPts val="600"/>
              </a:spcBef>
              <a:buNone/>
            </a:pPr>
            <a:r>
              <a:rPr lang="en-US" sz="1800">
                <a:solidFill>
                  <a:srgbClr val="393939"/>
                </a:solidFill>
                <a:latin typeface="Verdana"/>
                <a:ea typeface="Verdana"/>
                <a:cs typeface="Verdana"/>
                <a:sym typeface="Verdana"/>
              </a:rPr>
              <a:t>Группировка</a:t>
            </a: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Преимущества</a:t>
            </a:r>
          </a:p>
        </p:txBody>
      </p:sp>
      <p:sp>
        <p:nvSpPr>
          <p:cNvPr id="235" name="Shape 235"/>
          <p:cNvSpPr txBox="1"/>
          <p:nvPr/>
        </p:nvSpPr>
        <p:spPr>
          <a:xfrm>
            <a:off x="316900" y="1491875"/>
            <a:ext cx="8229600" cy="4630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52727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>
                <a:solidFill>
                  <a:srgbClr val="252525"/>
                </a:solidFill>
              </a:rPr>
              <a:t>Гибкие методологии предпочитают общение лицом к лицу вместо всесторонней документации; быструю адаптацию к изменениям вместо фиксации на проблеме. Это достигается следующим:</a:t>
            </a:r>
          </a:p>
          <a:p>
            <a:pPr marL="6858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Истории короткие. Они представляют маленькие кусочки деловой ценности, которые можно реализовать в период от дней до нескольких недель.</a:t>
            </a:r>
          </a:p>
          <a:p>
            <a:pPr marL="6858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Позволяют разработчикам и клиентам обсуждать требования на протяжении всей жизни проекта</a:t>
            </a:r>
          </a:p>
          <a:p>
            <a:pPr marL="6858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Нуждаются в очень небольшом обслуживании</a:t>
            </a:r>
          </a:p>
          <a:p>
            <a:pPr marL="6858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Рассматриваются только в момент использования</a:t>
            </a:r>
          </a:p>
          <a:p>
            <a:pPr marL="6858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Поддерживают близкий контакт с клиентом</a:t>
            </a:r>
          </a:p>
          <a:p>
            <a:pPr marL="6858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Позволяют разбить проект на небольшие этапы</a:t>
            </a:r>
          </a:p>
          <a:p>
            <a:pPr marL="6858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Подходят для проектов, где требования изменчивы или плохо поняты.</a:t>
            </a:r>
          </a:p>
          <a:p>
            <a:pPr marL="6858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Облегчают оценку заданий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37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Недостатки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316900" y="1491875"/>
            <a:ext cx="8229600" cy="4630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Без определенных приемочных испытаний, истории являются открытыми для различных интерпретаций, что усложняет их использование как основу для соглашения</a:t>
            </a:r>
          </a:p>
          <a:p>
            <a:pPr marL="4572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Требуется близкий контакт с клиентом на протяжении всего проекта, что в некоторых случаях может быть сложно либо приводить к накладным затратам</a:t>
            </a:r>
          </a:p>
          <a:p>
            <a:pPr marL="4572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Истории могут плохо масштабироваться на больших проектах</a:t>
            </a:r>
          </a:p>
          <a:p>
            <a:pPr marL="4572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Истории полагаются на компетентность разработчиков</a:t>
            </a:r>
          </a:p>
          <a:p>
            <a:pPr marL="457200" lvl="0" indent="-317500" rtl="0">
              <a:lnSpc>
                <a:spcPct val="150000"/>
              </a:lnSpc>
              <a:spcBef>
                <a:spcPts val="300"/>
              </a:spcBef>
              <a:spcAft>
                <a:spcPts val="100"/>
              </a:spcAft>
              <a:buClr>
                <a:srgbClr val="252525"/>
              </a:buClr>
              <a:buSzPct val="100000"/>
              <a:buFont typeface="Arial"/>
              <a:buChar char="●"/>
            </a:pPr>
            <a:r>
              <a:rPr lang="en-US">
                <a:solidFill>
                  <a:srgbClr val="252525"/>
                </a:solidFill>
              </a:rPr>
              <a:t>Истории используются для начала дискуссии. К сожалению, они могут не фиксировать окончание дискуссии и таким образом не в состоянии служить надежным методом документации системы.</a:t>
            </a: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9293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3600" b="1">
                <a:solidFill>
                  <a:schemeClr val="lt1"/>
                </a:solidFill>
              </a:rPr>
              <a:t>Вопросы?</a:t>
            </a:r>
          </a:p>
        </p:txBody>
      </p:sp>
      <p:pic>
        <p:nvPicPr>
          <p:cNvPr id="247" name="Shape 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8875" y="1998200"/>
            <a:ext cx="4286250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null">
  <a:themeElements>
    <a:clrScheme name="Другая 7">
      <a:dk1>
        <a:srgbClr val="0F243E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1630</Words>
  <Application>Microsoft Macintosh PowerPoint</Application>
  <PresentationFormat>Экран (4:3)</PresentationFormat>
  <Paragraphs>182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5" baseType="lpstr">
      <vt:lpstr>Arial</vt:lpstr>
      <vt:lpstr>Calibri</vt:lpstr>
      <vt:lpstr>Courier New</vt:lpstr>
      <vt:lpstr>Times New Roman</vt:lpstr>
      <vt:lpstr>Trebuchet MS</vt:lpstr>
      <vt:lpstr>Verdana</vt:lpstr>
      <vt:lpstr>Wingdings</vt:lpstr>
      <vt:lpstr>null</vt:lpstr>
      <vt:lpstr>Основы жизненного цикла информационных систем</vt:lpstr>
      <vt:lpstr>Этапы процесса разработки ИС</vt:lpstr>
      <vt:lpstr>Этапы процесса разработки ИС</vt:lpstr>
      <vt:lpstr>Распределение времени в проекте</vt:lpstr>
      <vt:lpstr>Анализ проекта, списки требований</vt:lpstr>
      <vt:lpstr>Анализ проекта, списки требований</vt:lpstr>
      <vt:lpstr>Проектирование</vt:lpstr>
      <vt:lpstr>Списки требований</vt:lpstr>
      <vt:lpstr>Списки требований</vt:lpstr>
      <vt:lpstr>Списки требований</vt:lpstr>
      <vt:lpstr>Какая же есть альтернатива?</vt:lpstr>
      <vt:lpstr>Пользовательские истории (User stories)</vt:lpstr>
      <vt:lpstr>Почему же обсуждение требований так важно?</vt:lpstr>
      <vt:lpstr>Почему же обсуждение требований так важно?</vt:lpstr>
      <vt:lpstr>Пример</vt:lpstr>
      <vt:lpstr>Во время обсуждения первой истории</vt:lpstr>
      <vt:lpstr>Пользуясь принципом симметричности требований</vt:lpstr>
      <vt:lpstr>Обсуждая концепцию учетных записей, рождаются также следующие истории</vt:lpstr>
      <vt:lpstr>Куда подевались детали?</vt:lpstr>
      <vt:lpstr>Куда подевались детали?</vt:lpstr>
      <vt:lpstr>Пример детализации истории</vt:lpstr>
      <vt:lpstr>Пример детализации истории</vt:lpstr>
      <vt:lpstr>Пример детализации истории</vt:lpstr>
      <vt:lpstr>Инструменты работы с историями</vt:lpstr>
      <vt:lpstr>Преимущества</vt:lpstr>
      <vt:lpstr>Недостатки</vt:lpstr>
      <vt:lpstr>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Технология разработки программного обеспечения</dc:title>
  <dc:creator>Admin</dc:creator>
  <cp:lastModifiedBy>Microsoft Office User</cp:lastModifiedBy>
  <cp:revision>3</cp:revision>
  <dcterms:modified xsi:type="dcterms:W3CDTF">2026-02-09T10:12:02Z</dcterms:modified>
</cp:coreProperties>
</file>