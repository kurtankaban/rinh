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90" r:id="rId7"/>
    <p:sldId id="291" r:id="rId8"/>
    <p:sldId id="286" r:id="rId9"/>
    <p:sldId id="288" r:id="rId10"/>
    <p:sldId id="289" r:id="rId11"/>
    <p:sldId id="261" r:id="rId12"/>
    <p:sldId id="292" r:id="rId13"/>
    <p:sldId id="294" r:id="rId14"/>
    <p:sldId id="293" r:id="rId15"/>
    <p:sldId id="295" r:id="rId16"/>
    <p:sldId id="268" r:id="rId17"/>
    <p:sldId id="287" r:id="rId18"/>
    <p:sldId id="269" r:id="rId19"/>
    <p:sldId id="296" r:id="rId20"/>
    <p:sldId id="297" r:id="rId21"/>
    <p:sldId id="284" r:id="rId22"/>
  </p:sldIdLst>
  <p:sldSz cx="9144000" cy="5143500" type="screen16x9"/>
  <p:notesSz cx="6858000" cy="9144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6"/>
  </p:normalViewPr>
  <p:slideViewPr>
    <p:cSldViewPr>
      <p:cViewPr varScale="1">
        <p:scale>
          <a:sx n="135" d="100"/>
          <a:sy n="135" d="100"/>
        </p:scale>
        <p:origin x="768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 sz="1100"/>
            </a:lvl1pPr>
            <a:lvl2pPr>
              <a:spcBef>
                <a:spcPts val="0"/>
              </a:spcBef>
              <a:defRPr sz="1100"/>
            </a:lvl2pPr>
            <a:lvl3pPr>
              <a:spcBef>
                <a:spcPts val="0"/>
              </a:spcBef>
              <a:defRPr sz="1100"/>
            </a:lvl3pPr>
            <a:lvl4pPr>
              <a:spcBef>
                <a:spcPts val="0"/>
              </a:spcBef>
              <a:defRPr sz="1100"/>
            </a:lvl4pPr>
            <a:lvl5pPr>
              <a:spcBef>
                <a:spcPts val="0"/>
              </a:spcBef>
              <a:defRPr sz="1100"/>
            </a:lvl5pPr>
            <a:lvl6pPr>
              <a:spcBef>
                <a:spcPts val="0"/>
              </a:spcBef>
              <a:defRPr sz="1100"/>
            </a:lvl6pPr>
            <a:lvl7pPr>
              <a:spcBef>
                <a:spcPts val="0"/>
              </a:spcBef>
              <a:defRPr sz="1100"/>
            </a:lvl7pPr>
            <a:lvl8pPr>
              <a:spcBef>
                <a:spcPts val="0"/>
              </a:spcBef>
              <a:defRPr sz="1100"/>
            </a:lvl8pPr>
            <a:lvl9pPr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01720036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3" name="Shape 4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9" name="Shape 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2" name="Shape 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9" name="Shape 6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4" name="Shape 11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1" name="Shape 12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211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2" name="Shape 2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/>
          <p:nvPr/>
        </p:nvSpPr>
        <p:spPr>
          <a:xfrm>
            <a:off x="0" y="0"/>
            <a:ext cx="9144000" cy="35183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cxnSp>
        <p:nvCxnSpPr>
          <p:cNvPr id="9" name="Shape 9"/>
          <p:cNvCxnSpPr/>
          <p:nvPr/>
        </p:nvCxnSpPr>
        <p:spPr>
          <a:xfrm>
            <a:off x="0" y="3496604"/>
            <a:ext cx="9144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buSzPct val="100000"/>
              <a:defRPr sz="7200"/>
            </a:lvl1pPr>
            <a:lvl2pPr>
              <a:spcBef>
                <a:spcPts val="0"/>
              </a:spcBef>
              <a:buSzPct val="100000"/>
              <a:defRPr sz="7200"/>
            </a:lvl2pPr>
            <a:lvl3pPr>
              <a:spcBef>
                <a:spcPts val="0"/>
              </a:spcBef>
              <a:buSzPct val="100000"/>
              <a:defRPr sz="7200"/>
            </a:lvl3pPr>
            <a:lvl4pPr>
              <a:spcBef>
                <a:spcPts val="0"/>
              </a:spcBef>
              <a:buSzPct val="100000"/>
              <a:defRPr sz="7200"/>
            </a:lvl4pPr>
            <a:lvl5pPr>
              <a:spcBef>
                <a:spcPts val="0"/>
              </a:spcBef>
              <a:buSzPct val="100000"/>
              <a:defRPr sz="7200"/>
            </a:lvl5pPr>
            <a:lvl6pPr>
              <a:spcBef>
                <a:spcPts val="0"/>
              </a:spcBef>
              <a:buSzPct val="100000"/>
              <a:defRPr sz="7200"/>
            </a:lvl6pPr>
            <a:lvl7pPr>
              <a:spcBef>
                <a:spcPts val="0"/>
              </a:spcBef>
              <a:buSzPct val="100000"/>
              <a:defRPr sz="7200"/>
            </a:lvl7pPr>
            <a:lvl8pPr>
              <a:spcBef>
                <a:spcPts val="0"/>
              </a:spcBef>
              <a:buSzPct val="100000"/>
              <a:defRPr sz="7200"/>
            </a:lvl8pPr>
            <a:lvl9pPr>
              <a:spcBef>
                <a:spcPts val="0"/>
              </a:spcBef>
              <a:buSzPct val="100000"/>
              <a:defRPr sz="72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subTitle" idx="1"/>
          </p:nvPr>
        </p:nvSpPr>
        <p:spPr>
          <a:xfrm>
            <a:off x="685800" y="3627026"/>
            <a:ext cx="7772400" cy="7743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buClr>
                <a:schemeClr val="dk2"/>
              </a:buClr>
              <a:buNone/>
              <a:defRPr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cxnSp>
        <p:nvCxnSpPr>
          <p:cNvPr id="14" name="Shape 14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Shape 1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cxnSp>
        <p:nvCxnSpPr>
          <p:cNvPr id="19" name="Shape 19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6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2"/>
          </p:nvPr>
        </p:nvSpPr>
        <p:spPr>
          <a:xfrm>
            <a:off x="4692273" y="1200150"/>
            <a:ext cx="3994500" cy="37256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cxnSp>
        <p:nvCxnSpPr>
          <p:cNvPr id="25" name="Shape 25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5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buClr>
                <a:schemeClr val="dk2"/>
              </a:buClr>
              <a:buSzPct val="100000"/>
              <a:buNone/>
              <a:defRPr sz="1800">
                <a:solidFill>
                  <a:schemeClr val="dk2"/>
                </a:solidFill>
              </a:defRPr>
            </a:lvl1pPr>
          </a:lstStyle>
          <a:p>
            <a:endParaRPr/>
          </a:p>
        </p:txBody>
      </p:sp>
      <p:sp>
        <p:nvSpPr>
          <p:cNvPr id="29" name="Shape 29"/>
          <p:cNvSpPr/>
          <p:nvPr/>
        </p:nvSpPr>
        <p:spPr>
          <a:xfrm>
            <a:off x="4274" y="0"/>
            <a:ext cx="9144000" cy="4406399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cxnSp>
        <p:nvCxnSpPr>
          <p:cNvPr id="30" name="Shape 30"/>
          <p:cNvCxnSpPr/>
          <p:nvPr/>
        </p:nvCxnSpPr>
        <p:spPr>
          <a:xfrm>
            <a:off x="0" y="4384371"/>
            <a:ext cx="9144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bg>
      <p:bgPr>
        <a:solidFill>
          <a:schemeClr val="dk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buClr>
                <a:schemeClr val="lt1"/>
              </a:buClr>
              <a:buSzPct val="100000"/>
              <a:buNone/>
              <a:defRPr sz="3600" b="1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buClr>
                <a:schemeClr val="lt1"/>
              </a:buClr>
              <a:buSzPct val="100000"/>
              <a:buNone/>
              <a:defRPr sz="3600" b="1"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buClr>
                <a:schemeClr val="lt1"/>
              </a:buClr>
              <a:buSzPct val="100000"/>
              <a:buNone/>
              <a:defRPr sz="3600" b="1"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buClr>
                <a:schemeClr val="lt1"/>
              </a:buClr>
              <a:buSzPct val="100000"/>
              <a:buNone/>
              <a:defRPr sz="3600" b="1"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buClr>
                <a:schemeClr val="lt1"/>
              </a:buClr>
              <a:buSzPct val="100000"/>
              <a:buNone/>
              <a:defRPr sz="3600" b="1"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buClr>
                <a:schemeClr val="lt1"/>
              </a:buClr>
              <a:buSzPct val="100000"/>
              <a:buNone/>
              <a:defRPr sz="3600" b="1"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buClr>
                <a:schemeClr val="lt1"/>
              </a:buClr>
              <a:buSzPct val="100000"/>
              <a:buNone/>
              <a:defRPr sz="3600" b="1"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buClr>
                <a:schemeClr val="lt1"/>
              </a:buClr>
              <a:buSzPct val="100000"/>
              <a:buNone/>
              <a:defRPr sz="3600" b="1"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buClr>
                <a:schemeClr val="lt1"/>
              </a:buClr>
              <a:buSzPct val="1000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600"/>
              </a:spcBef>
              <a:buClr>
                <a:schemeClr val="dk1"/>
              </a:buClr>
              <a:buSzPct val="100000"/>
              <a:defRPr sz="3000">
                <a:solidFill>
                  <a:schemeClr val="dk1"/>
                </a:solidFill>
              </a:defRPr>
            </a:lvl1pPr>
            <a:lvl2pPr>
              <a:spcBef>
                <a:spcPts val="480"/>
              </a:spcBef>
              <a:buClr>
                <a:schemeClr val="dk1"/>
              </a:buClr>
              <a:buSzPct val="100000"/>
              <a:defRPr sz="2400">
                <a:solidFill>
                  <a:schemeClr val="dk1"/>
                </a:solidFill>
              </a:defRPr>
            </a:lvl2pPr>
            <a:lvl3pPr>
              <a:spcBef>
                <a:spcPts val="480"/>
              </a:spcBef>
              <a:buClr>
                <a:schemeClr val="dk1"/>
              </a:buClr>
              <a:buSzPct val="100000"/>
              <a:defRPr sz="2400">
                <a:solidFill>
                  <a:schemeClr val="dk1"/>
                </a:solidFill>
              </a:defRPr>
            </a:lvl3pPr>
            <a:lvl4pPr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4pPr>
            <a:lvl5pPr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5pPr>
            <a:lvl6pPr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6pPr>
            <a:lvl7pPr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7pPr>
            <a:lvl8pPr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8pPr>
            <a:lvl9pPr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dsd.ru/ru/uslugi/testirovanie_po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www.google.com/search?client=safari&amp;rls=en&amp;q=%D0%B8%D0%BD%D0%BA%D1%80%D0%B5%D0%BC%D0%B5%D0%BD%D1%82%D1%8B&amp;ie=UTF-8&amp;oe=UTF-8&amp;ved=2ahUKEwjAr5nkhMySAxUOORAIHbe3KS8QgK4QegYIAQgAEAQ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ru-RU" sz="4000" dirty="0"/>
              <a:t>Модели жизненного цикла информационных систем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ru"/>
              <a:t>Каскадная модель (Water flow)</a:t>
            </a:r>
          </a:p>
        </p:txBody>
      </p:sp>
      <p:sp>
        <p:nvSpPr>
          <p:cNvPr id="39" name="Shape 39"/>
          <p:cNvSpPr txBox="1">
            <a:spLocks noGrp="1"/>
          </p:cNvSpPr>
          <p:nvPr>
            <p:ph type="body" idx="1"/>
          </p:nvPr>
        </p:nvSpPr>
        <p:spPr>
          <a:xfrm>
            <a:off x="5597464" y="1347614"/>
            <a:ext cx="3528392" cy="28637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901700" lvl="0" indent="-342900" rtl="0">
              <a:lnSpc>
                <a:spcPct val="150000"/>
              </a:lnSpc>
              <a:spcBef>
                <a:spcPts val="300"/>
              </a:spcBef>
              <a:spcAft>
                <a:spcPts val="100"/>
              </a:spcAft>
              <a:buClr>
                <a:srgbClr val="252525"/>
              </a:buClr>
              <a:buSzPct val="100000"/>
              <a:buFont typeface="Arial"/>
              <a:buAutoNum type="arabicPeriod"/>
            </a:pPr>
            <a:r>
              <a:rPr lang="ru" sz="1800" dirty="0">
                <a:solidFill>
                  <a:srgbClr val="252525"/>
                </a:solidFill>
              </a:rPr>
              <a:t>Анализ</a:t>
            </a:r>
          </a:p>
          <a:p>
            <a:pPr marL="901700" lvl="0" indent="-342900" rtl="0">
              <a:lnSpc>
                <a:spcPct val="150000"/>
              </a:lnSpc>
              <a:spcBef>
                <a:spcPts val="300"/>
              </a:spcBef>
              <a:spcAft>
                <a:spcPts val="100"/>
              </a:spcAft>
              <a:buClr>
                <a:srgbClr val="252525"/>
              </a:buClr>
              <a:buSzPct val="100000"/>
              <a:buFont typeface="Arial"/>
              <a:buAutoNum type="arabicPeriod"/>
            </a:pPr>
            <a:r>
              <a:rPr lang="ru" sz="1800" dirty="0">
                <a:solidFill>
                  <a:srgbClr val="252525"/>
                </a:solidFill>
              </a:rPr>
              <a:t>Проектирование</a:t>
            </a:r>
          </a:p>
          <a:p>
            <a:pPr marL="901700" lvl="0" indent="-342900" rtl="0">
              <a:lnSpc>
                <a:spcPct val="150000"/>
              </a:lnSpc>
              <a:spcBef>
                <a:spcPts val="300"/>
              </a:spcBef>
              <a:spcAft>
                <a:spcPts val="100"/>
              </a:spcAft>
              <a:buClr>
                <a:srgbClr val="252525"/>
              </a:buClr>
              <a:buSzPct val="100000"/>
              <a:buFont typeface="Arial"/>
              <a:buAutoNum type="arabicPeriod"/>
            </a:pPr>
            <a:r>
              <a:rPr lang="ru" sz="1800" dirty="0">
                <a:solidFill>
                  <a:srgbClr val="252525"/>
                </a:solidFill>
              </a:rPr>
              <a:t>Разработки</a:t>
            </a:r>
          </a:p>
          <a:p>
            <a:pPr marL="901700" lvl="0" indent="-342900" rtl="0">
              <a:lnSpc>
                <a:spcPct val="150000"/>
              </a:lnSpc>
              <a:spcBef>
                <a:spcPts val="300"/>
              </a:spcBef>
              <a:spcAft>
                <a:spcPts val="100"/>
              </a:spcAft>
              <a:buClr>
                <a:srgbClr val="252525"/>
              </a:buClr>
              <a:buSzPct val="100000"/>
              <a:buFont typeface="Arial"/>
              <a:buAutoNum type="arabicPeriod"/>
            </a:pPr>
            <a:r>
              <a:rPr lang="ru" sz="1800" dirty="0">
                <a:solidFill>
                  <a:srgbClr val="252525"/>
                </a:solidFill>
              </a:rPr>
              <a:t>Тестирование и отладка</a:t>
            </a:r>
          </a:p>
          <a:p>
            <a:pPr marL="901700" lvl="0" indent="-342900" rtl="0">
              <a:lnSpc>
                <a:spcPct val="150000"/>
              </a:lnSpc>
              <a:spcBef>
                <a:spcPts val="300"/>
              </a:spcBef>
              <a:spcAft>
                <a:spcPts val="100"/>
              </a:spcAft>
              <a:buClr>
                <a:srgbClr val="252525"/>
              </a:buClr>
              <a:buSzPct val="100000"/>
              <a:buFont typeface="Arial"/>
              <a:buAutoNum type="arabicPeriod"/>
            </a:pPr>
            <a:r>
              <a:rPr lang="ru" sz="1800" dirty="0">
                <a:solidFill>
                  <a:srgbClr val="252525"/>
                </a:solidFill>
              </a:rPr>
              <a:t>Внедрение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66407890-4133-C49A-B601-A8E3D34E88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34" y="1275606"/>
            <a:ext cx="5759293" cy="3583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ru"/>
              <a:t>Плюсы и минусы</a:t>
            </a:r>
          </a:p>
        </p:txBody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lang="ru"/>
              <a:t>Плюсы</a:t>
            </a:r>
          </a:p>
          <a:p>
            <a:pPr marL="457200" lvl="0" indent="-3175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ru" sz="1400"/>
              <a:t>Позволяет предсказать затраты на проект</a:t>
            </a:r>
          </a:p>
          <a:p>
            <a:pPr marL="457200" lvl="0" indent="-3175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ru" sz="1400"/>
              <a:t>Управляемость проектом</a:t>
            </a:r>
          </a:p>
          <a:p>
            <a:pPr marL="457200" lvl="0" indent="-3175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ru" sz="1400"/>
              <a:t>Четкие сроки сдачи</a:t>
            </a:r>
          </a:p>
          <a:p>
            <a:pPr lvl="0" rtl="0">
              <a:spcBef>
                <a:spcPts val="0"/>
              </a:spcBef>
              <a:buNone/>
            </a:pPr>
            <a:endParaRPr sz="1400"/>
          </a:p>
          <a:p>
            <a:pPr rtl="0">
              <a:spcBef>
                <a:spcPts val="0"/>
              </a:spcBef>
              <a:buNone/>
            </a:pPr>
            <a:r>
              <a:rPr lang="ru"/>
              <a:t>Минусы</a:t>
            </a:r>
          </a:p>
          <a:p>
            <a:pPr marL="457200" marR="0" lvl="0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ru" sz="1400"/>
              <a:t>Отсутствие гибкости</a:t>
            </a:r>
          </a:p>
          <a:p>
            <a:pPr marL="457200" marR="0" lvl="0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ru" sz="1400"/>
              <a:t>Получается задуманная, а не необходимая система (если получается)</a:t>
            </a:r>
          </a:p>
          <a:p>
            <a:pPr marL="457200" marR="0" lvl="0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ru" sz="1400"/>
              <a:t>Управляемость проектом кажущаяся</a:t>
            </a:r>
          </a:p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ru"/>
              <a:t>Каскадная модель</a:t>
            </a:r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lang="ru"/>
              <a:t>Хорошо подходит</a:t>
            </a:r>
          </a:p>
          <a:p>
            <a:pPr marL="457200" lvl="0" indent="-3429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ru" sz="1800"/>
              <a:t>для небольших проектов, в которых заданы короткие сроки и ясны цели</a:t>
            </a:r>
          </a:p>
          <a:p>
            <a:pPr marL="457200" lvl="0" indent="-34290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ru" sz="1800"/>
              <a:t>для больших проектов, в которых поставленная задача обязана быть достигнута, даже путем перерасхода средств</a:t>
            </a:r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ru"/>
              <a:t>Модель с возвратами</a:t>
            </a:r>
          </a:p>
        </p:txBody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5329550" y="1200150"/>
            <a:ext cx="3356999" cy="37256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ru" sz="1800" b="1"/>
              <a:t>Плюсы</a:t>
            </a:r>
          </a:p>
          <a:p>
            <a:pPr marL="457200" lvl="0" indent="-3175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ru" sz="1400"/>
              <a:t>выше шансы получить необходимую систему</a:t>
            </a:r>
          </a:p>
          <a:p>
            <a:pPr marL="457200" lvl="0" indent="-3175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ru" sz="1400"/>
              <a:t>гибкость разработки</a:t>
            </a:r>
          </a:p>
          <a:p>
            <a:pPr rtl="0">
              <a:spcBef>
                <a:spcPts val="0"/>
              </a:spcBef>
              <a:buNone/>
            </a:pPr>
            <a:endParaRPr sz="1400"/>
          </a:p>
          <a:p>
            <a:pPr rtl="0">
              <a:spcBef>
                <a:spcPts val="0"/>
              </a:spcBef>
              <a:buNone/>
            </a:pPr>
            <a:r>
              <a:rPr lang="ru" sz="1800" b="1"/>
              <a:t>Минусы</a:t>
            </a:r>
          </a:p>
          <a:p>
            <a:pPr marL="457200" lvl="0" indent="-31750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ru" sz="1400"/>
              <a:t>не известно, сколько потребуется возвратов, то есть времени, средств</a:t>
            </a:r>
          </a:p>
        </p:txBody>
      </p:sp>
      <p:pic>
        <p:nvPicPr>
          <p:cNvPr id="59" name="Shape 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375" y="1554850"/>
            <a:ext cx="4837599" cy="2660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FA796C-B53B-0C52-3953-47E9122F9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V-</a:t>
            </a:r>
            <a:r>
              <a:rPr lang="ru-RU" dirty="0"/>
              <a:t>модель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6D6AEA7F-2C6F-ADB5-4357-BE25C293C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1203598"/>
            <a:ext cx="5321270" cy="3795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B7AE02D-FA1F-B0C3-FE3D-125BB37DD0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4826" y="1203598"/>
            <a:ext cx="338437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V-образная модель применима к системам, где важно бесперебойное функционирование.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Например, прикладные программы в клиниках для наблюдения за пациентами, интегрированное ПО для механизмов управления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 аварийными подушками безопасности в транспортных средствах и так далее. Особенность модели 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она направлена на тщательную проверку и 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-apple-system"/>
                <a:hlinkClick r:id="rId3"/>
              </a:rPr>
              <a:t>тестирование продукта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, находящегося уже на первоначальных стадиях проектирования.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 Стадия тестирования проводится одновременно с соответствующей стадией разработки, например, во время кодирования пишутся модульные тесты.</a:t>
            </a: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Пример нашей работы на основе V-методологии — мобильное приложение для европейского сотового оператора,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 который экономит расходы на роуминг во время путешествий. 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890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031D23-8B1E-7189-6F8F-B2FA8829C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V-</a:t>
            </a:r>
            <a:r>
              <a:rPr lang="ru-RU" dirty="0"/>
              <a:t>модель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53BE31E-0A1D-3320-6628-A3C509BA18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1" y="1493339"/>
            <a:ext cx="634704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Когда использовать V-модель?</a:t>
            </a: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Если требуется тщательное тестирование продукта, то V-модель оправдает заложенную в себя идею: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validation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and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verification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Для малых и средних проектов, где требования четко определены и фиксированы.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В условиях доступности инженеров необходимой квалификации, особенно тестировщиков.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429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78348C-C234-C74C-3F61-7B23FF201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Инкрементальная модель</a:t>
            </a:r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BEB0A1-B18F-D706-23A3-5BDE44F436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6" y="1199830"/>
            <a:ext cx="818204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Инкрементальная модель жизненного цикла (ЖЦ) — это 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метод разработки ПО, при котором система создается поэтапно,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разбиваясь на небольшие функциональные части (</a:t>
            </a:r>
            <a:r>
              <a:rPr kumimoji="0" lang="ru-RU" altLang="ru-RU" sz="1200" b="0" i="0" u="sng" strike="noStrike" cap="none" normalizeH="0" baseline="0" dirty="0">
                <a:ln>
                  <a:noFill/>
                </a:ln>
                <a:solidFill>
                  <a:srgbClr val="681DA8"/>
                </a:solidFill>
                <a:effectLst/>
                <a:latin typeface="Arial" panose="020B0604020202020204" pitchFamily="34" charset="0"/>
                <a:hlinkClick r:id="rId2"/>
              </a:rPr>
              <a:t>инкременты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Каждая часть проходит полный цикл разработки (анализ, проектирование, кодирование, тестирование),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а продукт «нарастает» функционалом от базовой версии до финальной, позволяя раньше выпускать полезные функции. 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1" name="Picture 3" descr="НОУ ИНТУИТ | Введение в программные системы и их разработку. Лекция 5: Жизненный  цикл программных систем">
            <a:extLst>
              <a:ext uri="{FF2B5EF4-FFF2-40B4-BE49-F238E27FC236}">
                <a16:creationId xmlns:a16="http://schemas.microsoft.com/office/drawing/2014/main" id="{9E30440C-89F2-E72F-7CA0-6FB19C03A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544" y="2211710"/>
            <a:ext cx="7874000" cy="278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500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F371B6-F14B-20E3-98C4-A94E883A4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sz="3200" dirty="0"/>
              <a:t>Инкрементальная модель (итерационная)</a:t>
            </a:r>
            <a:endParaRPr lang="ru-RU" sz="32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CA0C29A-9886-B4DA-D34B-518C3AF19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1347614"/>
            <a:ext cx="5088340" cy="372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EDDD49-7CFF-096D-44BA-CC32768D71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61145"/>
            <a:ext cx="2818656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Итерационная модель жизненного цикла не требует для начала полной спецификации требований.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Вместо этого, создание начинается с реализации части функционала,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становящейся базой для определения дальнейших требований.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Этот процесс повторяется. Версия может быть неидеальна, главное, чтобы она работала.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Понимая конечную цель, мы стремимся к ней так, чтобы каждый шаг был результативен,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а каждая версия — работоспособна.</a:t>
            </a:r>
            <a:br>
              <a:rPr kumimoji="0" lang="ru-RU" altLang="ru-RU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6088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76DCA6-BF87-F0DD-36DB-E4EFE146F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Инкрементальная модель</a:t>
            </a:r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DD4B2F-E077-AEEF-9D3E-04CAA45C84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3152" y="1635646"/>
            <a:ext cx="845769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Когда оптимально использовать итеративную модель?</a:t>
            </a: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Требования к конечной системе заранее четко определены и понятны.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Проект большой или очень большой.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Основная задача должна быть определена, но детали реализации могут эволюционировать с течением времени.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125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lang="ru" sz="2400" dirty="0"/>
              <a:t>Итерационные модели</a:t>
            </a:r>
          </a:p>
          <a:p>
            <a:pPr>
              <a:spcBef>
                <a:spcPts val="0"/>
              </a:spcBef>
              <a:buNone/>
            </a:pPr>
            <a:r>
              <a:rPr lang="ru" sz="2400" dirty="0"/>
              <a:t>Спиральная модель (эволюционная)</a:t>
            </a:r>
          </a:p>
        </p:txBody>
      </p:sp>
      <p:sp>
        <p:nvSpPr>
          <p:cNvPr id="65" name="Shape 65"/>
          <p:cNvSpPr txBox="1">
            <a:spLocks noGrp="1"/>
          </p:cNvSpPr>
          <p:nvPr>
            <p:ph type="body" idx="1"/>
          </p:nvPr>
        </p:nvSpPr>
        <p:spPr>
          <a:xfrm>
            <a:off x="4545275" y="1200150"/>
            <a:ext cx="4141499" cy="37256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78571"/>
              <a:buFont typeface="Arial"/>
              <a:buNone/>
            </a:pPr>
            <a:r>
              <a:rPr lang="ru" sz="1400"/>
              <a:t>В ряде случаев возвраты неизбежны</a:t>
            </a:r>
          </a:p>
          <a:p>
            <a:pPr marL="457200" lvl="0" indent="-3175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ru" sz="1400"/>
              <a:t>изменяющаяся внешняя среда</a:t>
            </a:r>
          </a:p>
          <a:p>
            <a:pPr marL="457200" lvl="0" indent="-3175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ru" sz="1400"/>
              <a:t>изменяющиеся требования заказчика</a:t>
            </a:r>
          </a:p>
          <a:p>
            <a:pPr marL="457200" lvl="0" indent="-3175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ru" sz="1400"/>
              <a:t>нечеткие требования</a:t>
            </a:r>
          </a:p>
          <a:p>
            <a:pPr marL="457200" lvl="0" indent="-3175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ru" sz="1400"/>
              <a:t>новая предметная область</a:t>
            </a:r>
          </a:p>
          <a:p>
            <a:pPr marL="457200" lvl="0" indent="-3175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ru" sz="1400"/>
              <a:t>невозможность работать по модели с возвратами</a:t>
            </a:r>
          </a:p>
          <a:p>
            <a:pPr>
              <a:spcBef>
                <a:spcPts val="0"/>
              </a:spcBef>
              <a:buNone/>
            </a:pPr>
            <a:endParaRPr sz="3600" b="1">
              <a:solidFill>
                <a:schemeClr val="lt1"/>
              </a:solidFill>
            </a:endParaRPr>
          </a:p>
        </p:txBody>
      </p:sp>
      <p:pic>
        <p:nvPicPr>
          <p:cNvPr id="66" name="Shape 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774" y="1573775"/>
            <a:ext cx="3838524" cy="2182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25985D-C243-C879-E34F-EC5FB0D98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sz="3200" dirty="0"/>
              <a:t>Спиральная модель (эволюционная)</a:t>
            </a:r>
            <a:endParaRPr lang="ru-RU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FF7AB7-BFF9-B844-E2E5-EB6382C1B2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552" y="1138161"/>
            <a:ext cx="822960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Достоинства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1)возможность уточнения и внесения новых требований в процессе разработки;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2)пригодность для использования промежуточного продукта;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3)возможность обеспечения управления рисками;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4)реализация преимуществ инкрементной стратегии (выпуск версий, повторное использование результатов, сокращение графика работ); 5)обеспечение широкого участия пользователя в проекте, начиная с ранних этапов, что минимизирует возможность разногласий между заказчиками и разработчиками и обеспечивает создание продукта высокого качества;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6) уменьшение общих затрат на разработку за счет раннего решения проблем и меньшего объема доработок.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98918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E31480-0045-B213-9509-78D5C1895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sz="3200" dirty="0"/>
              <a:t>Спиральная модель (эволюционная)</a:t>
            </a:r>
            <a:endParaRPr lang="ru-RU" sz="32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0C51087-D9E9-FED5-540B-566C3B04A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552" y="1238253"/>
            <a:ext cx="8229600" cy="3725699"/>
          </a:xfrm>
        </p:spPr>
        <p:txBody>
          <a:bodyPr/>
          <a:lstStyle/>
          <a:p>
            <a:r>
              <a:rPr lang="ru-RU" altLang="ru-RU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Недостатки</a:t>
            </a:r>
            <a:r>
              <a:rPr lang="ru-RU" altLang="ru-RU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1)сложность определения критериев для продолжения процесса разработки на следующей итерации, неизвестность точного количества необходимых итераций; это затрудняет планирование проекта и может вызвать задержку реализации конечной версии системы или программного средства 2) сложность управления проектом; необходимость грамотного управления с целью ограничения количества итераций до разумного; 3)необходимость активного участия пользователей в проекте, что не всегда возможно в реальной жизни; 4)необходимость мощных инструментальных средств и методов прототипирования; 5)возможность отодвигания решения трудных проблем на последующие циклы, что может привести к несоответствию полученных продуктов требованиям заказчиков.</a:t>
            </a:r>
            <a:endParaRPr lang="ru-RU" altLang="ru-RU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154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52332C-BD34-F1A6-99B3-F4E59D8D5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sz="3200" dirty="0"/>
              <a:t>Спиральная модель (эволюционная)</a:t>
            </a:r>
            <a:endParaRPr lang="ru-RU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19F7156-C29B-AD55-AC76-CEE8F10D58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19443"/>
            <a:ext cx="82296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Области применения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1) при разработке проектов, для которых требования слишком сложны, неизвестны заранее, непостоянны или их следует уточнить;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2) при разработке больших и долгосрочных проектов;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3) при разработке проектов использующих новые технологии.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7717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8F13EA-0884-765E-9FA9-027C2D3E1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Прототипная</a:t>
            </a:r>
            <a:r>
              <a:rPr lang="ru-RU" dirty="0"/>
              <a:t> модель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1F7367-6992-2C6D-BF56-4CAEBAA90F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16449"/>
            <a:ext cx="8629285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Данная модель основывается на разработки прототипов и прототипирования продукта.</a:t>
            </a:r>
            <a:b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Прототипирование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 используется на ранних стадиях жизненного цикла программного обеспечения: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Прояснить не ясные требования (прототип UI)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Выбрать одно из ряда концептуальных решений (реализация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сцинариев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Проанализировать осуществимость проекта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Классификация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протопипов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: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Горизонтальные и вертикальные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Одноразовые и эволюционные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бумажные и раскадровки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Горизонтальные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 прототипы — моделирует исключительно UI не затрагивая логику обработки и базу данных.</a:t>
            </a:r>
            <a:b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Вертикальные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 прототипы — проверка архитектурных решений.</a:t>
            </a:r>
            <a:b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Одноразовые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 прототипы — для быстрой разработки.</a:t>
            </a:r>
            <a:b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Эволюционные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 прототипы — первое приближение эволюционной системы.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987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ru" sz="3000" dirty="0"/>
              <a:t>Аgile модель гибкая разработка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EE0C9CF-C374-7C2A-D741-53B0FFCE6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334635"/>
            <a:ext cx="5786859" cy="3602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9">
            <a:extLst>
              <a:ext uri="{FF2B5EF4-FFF2-40B4-BE49-F238E27FC236}">
                <a16:creationId xmlns:a16="http://schemas.microsoft.com/office/drawing/2014/main" id="{28A5F08D-3842-A301-DC05-79D6BF269D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300789" y="1653223"/>
            <a:ext cx="2663700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Когда использовать 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Agile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?</a:t>
            </a:r>
            <a:br>
              <a:rPr kumimoji="0" lang="ru-RU" altLang="ru-RU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Когда потребности пользователей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постоянно меняются в динамическом бизнесе.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Изменения на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Agile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 реализуются за меньшую цену из-за частых инкрементов.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В отличие от модели водопада, в гибкой модели для старта проекта достаточно лишь небольшого планирования.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A85D38-0EDB-2F72-CF0F-CE310326B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/>
              <a:t>Отличия каскадной и гибкой методологий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E61D61AB-CF9E-6098-2F45-5E035D739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214566"/>
            <a:ext cx="5635947" cy="3926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6828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ru" sz="2800" dirty="0"/>
              <a:t>Популярные методологии</a:t>
            </a:r>
            <a:r>
              <a:rPr lang="en-US" sz="2800" dirty="0"/>
              <a:t> </a:t>
            </a:r>
            <a:r>
              <a:rPr lang="ru-RU" sz="2800" dirty="0"/>
              <a:t>разработки ПО</a:t>
            </a:r>
            <a:endParaRPr lang="ru" sz="28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9AB1A4B-BFBE-A3D8-BB47-BC876EEE5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1203598"/>
            <a:ext cx="7297472" cy="3939902"/>
          </a:xfrm>
          <a:prstGeom prst="rect">
            <a:avLst/>
          </a:prstGeom>
        </p:spPr>
      </p:pic>
    </p:spTree>
  </p:cSld>
  <p:clrMapOvr>
    <a:masterClrMapping/>
  </p:clrMapOvr>
  <p:transition spd="slow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FE836E-F902-ECC4-0886-20A7EBFB3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/>
              <a:t>Экстремальное программирование </a:t>
            </a:r>
            <a:r>
              <a:rPr lang="en-US" sz="3200" dirty="0"/>
              <a:t>XP</a:t>
            </a:r>
            <a:endParaRPr lang="ru-RU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1609B93-B201-4E21-CCE2-AB3EBBB7BE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95536" y="1779662"/>
            <a:ext cx="8291264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ystem-ui"/>
              </a:rPr>
              <a:t>Экстремальное программирование или XP,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ystem-ui"/>
              </a:rPr>
              <a:t>eXtreme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ystem-ui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ystem-ui"/>
              </a:rPr>
              <a:t>Programming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ystem-ui"/>
              </a:rPr>
              <a:t> — гибкая методология разработки программного обеспечения. Как и у других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ystem-ui"/>
              </a:rPr>
              <a:t>agile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ystem-ui"/>
              </a:rPr>
              <a:t>-методологий, у нее есть особенные инструменты, процессы и роли. Хотя автор XP не придумал ничего нового, а взял лучшие практики гибкой разработки и усилил до максимума. Поэтому программирование и зовется экстремальным.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ystem-ui"/>
              </a:rPr>
              <a:t>Автор методики — американский разработчик Кент Бек. В конце 90-х годов он руководил проектом Chrysler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ystem-ui"/>
              </a:rPr>
              <a:t>Comprehensive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ystem-ui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ystem-ui"/>
              </a:rPr>
              <a:t>Compensation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ystem-ui"/>
              </a:rPr>
              <a:t> System и там впервые применил практики экстремального программирования.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ystem-u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2021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7771E1-9461-499B-742F-A85A9DDA6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/>
              <a:t>Экстремальное программирование </a:t>
            </a:r>
            <a:r>
              <a:rPr lang="en-US" sz="3200" dirty="0"/>
              <a:t>XP</a:t>
            </a:r>
            <a:endParaRPr lang="ru-RU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5CBD81B-861C-DFF8-E4E7-4C9E7C81AA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3656371"/>
            <a:ext cx="8291264" cy="1000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ystem-ui"/>
              </a:rPr>
              <a:t>Цель методики XP — справиться с постоянно меняющимися требованиями к программному продукту и повысить качество разработки. Поэтому XP хорошо подходит для сложных и неопределенных проектов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ystem-ui"/>
              </a:rPr>
              <a:t>Методология XP строится вокруг четырех процессов: кодирования, тестирования, дизайна и слушания. Кроме того, экстремальное программирование имеет ценности: простоту, коммуникацию, обратную связь, смелость и уважение.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1F5AA25-D2D5-58C1-1BB6-DEDC47177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409700"/>
            <a:ext cx="7772400" cy="223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9859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ru"/>
              <a:t>Вопросы?</a:t>
            </a:r>
          </a:p>
        </p:txBody>
      </p:sp>
      <p:pic>
        <p:nvPicPr>
          <p:cNvPr id="209" name="Shape 2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5075" y="1230675"/>
            <a:ext cx="3933825" cy="37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biz">
  <a:themeElements>
    <a:clrScheme name="Custom 233">
      <a:dk1>
        <a:srgbClr val="000000"/>
      </a:dk1>
      <a:lt1>
        <a:srgbClr val="FFFFFF"/>
      </a:lt1>
      <a:dk2>
        <a:srgbClr val="2388DB"/>
      </a:dk2>
      <a:lt2>
        <a:srgbClr val="BBD7F8"/>
      </a:lt2>
      <a:accent1>
        <a:srgbClr val="80B606"/>
      </a:accent1>
      <a:accent2>
        <a:srgbClr val="E29F1D"/>
      </a:accent2>
      <a:accent3>
        <a:srgbClr val="1D6FB2"/>
      </a:accent3>
      <a:accent4>
        <a:srgbClr val="3FAC98"/>
      </a:accent4>
      <a:accent5>
        <a:srgbClr val="5B57BB"/>
      </a:accent5>
      <a:accent6>
        <a:srgbClr val="D1505E"/>
      </a:accent6>
      <a:hlink>
        <a:srgbClr val="185DA2"/>
      </a:hlink>
      <a:folHlink>
        <a:srgbClr val="0048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</TotalTime>
  <Words>1017</Words>
  <Application>Microsoft Macintosh PowerPoint</Application>
  <PresentationFormat>Экран (16:9)</PresentationFormat>
  <Paragraphs>105</Paragraphs>
  <Slides>21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-apple-system</vt:lpstr>
      <vt:lpstr>Arial</vt:lpstr>
      <vt:lpstr>Google Sans</vt:lpstr>
      <vt:lpstr>system-ui</vt:lpstr>
      <vt:lpstr>biz</vt:lpstr>
      <vt:lpstr>Модели жизненного цикла информационных систем</vt:lpstr>
      <vt:lpstr>Каскадная модель (Water flow)</vt:lpstr>
      <vt:lpstr>Плюсы и минусы</vt:lpstr>
      <vt:lpstr>Каскадная модель</vt:lpstr>
      <vt:lpstr>Модель с возвратами</vt:lpstr>
      <vt:lpstr>V-модель</vt:lpstr>
      <vt:lpstr>V-модель</vt:lpstr>
      <vt:lpstr>Инкрементальная модель</vt:lpstr>
      <vt:lpstr>Инкрементальная модель (итерационная)</vt:lpstr>
      <vt:lpstr>Инкрементальная модель</vt:lpstr>
      <vt:lpstr>Итерационные модели Спиральная модель (эволюционная)</vt:lpstr>
      <vt:lpstr>Спиральная модель (эволюционная)</vt:lpstr>
      <vt:lpstr>Спиральная модель (эволюционная)</vt:lpstr>
      <vt:lpstr>Спиральная модель (эволюционная)</vt:lpstr>
      <vt:lpstr>Прототипная модель</vt:lpstr>
      <vt:lpstr>Аgile модель гибкая разработка</vt:lpstr>
      <vt:lpstr>Отличия каскадной и гибкой методологий</vt:lpstr>
      <vt:lpstr>Популярные методологии разработки ПО</vt:lpstr>
      <vt:lpstr>Экстремальное программирование XP</vt:lpstr>
      <vt:lpstr>Экстремальное программирование XP</vt:lpstr>
      <vt:lpstr>Вопросы?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Последовательность этапов разработки ПО</dc:title>
  <cp:lastModifiedBy>Microsoft Office User</cp:lastModifiedBy>
  <cp:revision>14</cp:revision>
  <dcterms:modified xsi:type="dcterms:W3CDTF">2026-02-09T09:49:03Z</dcterms:modified>
</cp:coreProperties>
</file>